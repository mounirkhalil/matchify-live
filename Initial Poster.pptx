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</p:sldIdLst>
  <p:sldSz cx="42794238" cy="30267275"/>
  <p:notesSz cx="9144000" cy="6858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400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7" d="100"/>
          <a:sy n="17" d="100"/>
        </p:scale>
        <p:origin x="1536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209568" y="4953466"/>
            <a:ext cx="36375102" cy="10537496"/>
          </a:xfrm>
        </p:spPr>
        <p:txBody>
          <a:bodyPr anchor="b"/>
          <a:lstStyle>
            <a:lvl1pPr algn="ctr">
              <a:defRPr sz="2648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349280" y="15897328"/>
            <a:ext cx="32095679" cy="7307583"/>
          </a:xfrm>
        </p:spPr>
        <p:txBody>
          <a:bodyPr/>
          <a:lstStyle>
            <a:lvl1pPr marL="0" indent="0" algn="ctr">
              <a:buNone/>
              <a:defRPr sz="10592"/>
            </a:lvl1pPr>
            <a:lvl2pPr marL="2017806" indent="0" algn="ctr">
              <a:buNone/>
              <a:defRPr sz="8827"/>
            </a:lvl2pPr>
            <a:lvl3pPr marL="4035613" indent="0" algn="ctr">
              <a:buNone/>
              <a:defRPr sz="7944"/>
            </a:lvl3pPr>
            <a:lvl4pPr marL="6053419" indent="0" algn="ctr">
              <a:buNone/>
              <a:defRPr sz="7061"/>
            </a:lvl4pPr>
            <a:lvl5pPr marL="8071226" indent="0" algn="ctr">
              <a:buNone/>
              <a:defRPr sz="7061"/>
            </a:lvl5pPr>
            <a:lvl6pPr marL="10089032" indent="0" algn="ctr">
              <a:buNone/>
              <a:defRPr sz="7061"/>
            </a:lvl6pPr>
            <a:lvl7pPr marL="12106839" indent="0" algn="ctr">
              <a:buNone/>
              <a:defRPr sz="7061"/>
            </a:lvl7pPr>
            <a:lvl8pPr marL="14124645" indent="0" algn="ctr">
              <a:buNone/>
              <a:defRPr sz="7061"/>
            </a:lvl8pPr>
            <a:lvl9pPr marL="16142452" indent="0" algn="ctr">
              <a:buNone/>
              <a:defRPr sz="7061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0BF298-C765-4E3D-9D75-D692459D1A2E}" type="datetimeFigureOut">
              <a:rPr lang="en-US" smtClean="0"/>
              <a:t>11/30/2025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B25863-164B-4E3E-87FF-4C5BB28AF3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63848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0BF298-C765-4E3D-9D75-D692459D1A2E}" type="datetimeFigureOut">
              <a:rPr lang="en-US" smtClean="0"/>
              <a:t>11/30/2025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B25863-164B-4E3E-87FF-4C5BB28AF3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99302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919818" y="7545809"/>
            <a:ext cx="36910030" cy="12590343"/>
          </a:xfrm>
        </p:spPr>
        <p:txBody>
          <a:bodyPr anchor="b"/>
          <a:lstStyle>
            <a:lvl1pPr>
              <a:defRPr sz="2648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19818" y="20255262"/>
            <a:ext cx="36910030" cy="6620964"/>
          </a:xfrm>
        </p:spPr>
        <p:txBody>
          <a:bodyPr/>
          <a:lstStyle>
            <a:lvl1pPr marL="0" indent="0">
              <a:buNone/>
              <a:defRPr sz="10592">
                <a:solidFill>
                  <a:schemeClr val="tx1">
                    <a:tint val="82000"/>
                  </a:schemeClr>
                </a:solidFill>
              </a:defRPr>
            </a:lvl1pPr>
            <a:lvl2pPr marL="2017806" indent="0">
              <a:buNone/>
              <a:defRPr sz="8827">
                <a:solidFill>
                  <a:schemeClr val="tx1">
                    <a:tint val="82000"/>
                  </a:schemeClr>
                </a:solidFill>
              </a:defRPr>
            </a:lvl2pPr>
            <a:lvl3pPr marL="4035613" indent="0">
              <a:buNone/>
              <a:defRPr sz="7944">
                <a:solidFill>
                  <a:schemeClr val="tx1">
                    <a:tint val="82000"/>
                  </a:schemeClr>
                </a:solidFill>
              </a:defRPr>
            </a:lvl3pPr>
            <a:lvl4pPr marL="6053419" indent="0">
              <a:buNone/>
              <a:defRPr sz="7061">
                <a:solidFill>
                  <a:schemeClr val="tx1">
                    <a:tint val="82000"/>
                  </a:schemeClr>
                </a:solidFill>
              </a:defRPr>
            </a:lvl4pPr>
            <a:lvl5pPr marL="8071226" indent="0">
              <a:buNone/>
              <a:defRPr sz="7061">
                <a:solidFill>
                  <a:schemeClr val="tx1">
                    <a:tint val="82000"/>
                  </a:schemeClr>
                </a:solidFill>
              </a:defRPr>
            </a:lvl5pPr>
            <a:lvl6pPr marL="10089032" indent="0">
              <a:buNone/>
              <a:defRPr sz="7061">
                <a:solidFill>
                  <a:schemeClr val="tx1">
                    <a:tint val="82000"/>
                  </a:schemeClr>
                </a:solidFill>
              </a:defRPr>
            </a:lvl6pPr>
            <a:lvl7pPr marL="12106839" indent="0">
              <a:buNone/>
              <a:defRPr sz="7061">
                <a:solidFill>
                  <a:schemeClr val="tx1">
                    <a:tint val="82000"/>
                  </a:schemeClr>
                </a:solidFill>
              </a:defRPr>
            </a:lvl7pPr>
            <a:lvl8pPr marL="14124645" indent="0">
              <a:buNone/>
              <a:defRPr sz="7061">
                <a:solidFill>
                  <a:schemeClr val="tx1">
                    <a:tint val="82000"/>
                  </a:schemeClr>
                </a:solidFill>
              </a:defRPr>
            </a:lvl8pPr>
            <a:lvl9pPr marL="16142452" indent="0">
              <a:buNone/>
              <a:defRPr sz="7061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0BF298-C765-4E3D-9D75-D692459D1A2E}" type="datetimeFigureOut">
              <a:rPr lang="en-US" smtClean="0"/>
              <a:t>11/30/2025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B25863-164B-4E3E-87FF-4C5BB28AF3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54726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942104" y="8057261"/>
            <a:ext cx="18187551" cy="1920430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1664583" y="8057261"/>
            <a:ext cx="18187551" cy="1920430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0BF298-C765-4E3D-9D75-D692459D1A2E}" type="datetimeFigureOut">
              <a:rPr lang="en-US" smtClean="0"/>
              <a:t>11/30/2025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B25863-164B-4E3E-87FF-4C5BB28AF3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88820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947678" y="1611459"/>
            <a:ext cx="36910030" cy="585027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47682" y="7419688"/>
            <a:ext cx="18103966" cy="3636275"/>
          </a:xfrm>
        </p:spPr>
        <p:txBody>
          <a:bodyPr anchor="b"/>
          <a:lstStyle>
            <a:lvl1pPr marL="0" indent="0">
              <a:buNone/>
              <a:defRPr sz="10592" b="1"/>
            </a:lvl1pPr>
            <a:lvl2pPr marL="2017806" indent="0">
              <a:buNone/>
              <a:defRPr sz="8827" b="1"/>
            </a:lvl2pPr>
            <a:lvl3pPr marL="4035613" indent="0">
              <a:buNone/>
              <a:defRPr sz="7944" b="1"/>
            </a:lvl3pPr>
            <a:lvl4pPr marL="6053419" indent="0">
              <a:buNone/>
              <a:defRPr sz="7061" b="1"/>
            </a:lvl4pPr>
            <a:lvl5pPr marL="8071226" indent="0">
              <a:buNone/>
              <a:defRPr sz="7061" b="1"/>
            </a:lvl5pPr>
            <a:lvl6pPr marL="10089032" indent="0">
              <a:buNone/>
              <a:defRPr sz="7061" b="1"/>
            </a:lvl6pPr>
            <a:lvl7pPr marL="12106839" indent="0">
              <a:buNone/>
              <a:defRPr sz="7061" b="1"/>
            </a:lvl7pPr>
            <a:lvl8pPr marL="14124645" indent="0">
              <a:buNone/>
              <a:defRPr sz="7061" b="1"/>
            </a:lvl8pPr>
            <a:lvl9pPr marL="16142452" indent="0">
              <a:buNone/>
              <a:defRPr sz="7061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947682" y="11055963"/>
            <a:ext cx="18103966" cy="1626165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1664585" y="7419688"/>
            <a:ext cx="18193125" cy="3636275"/>
          </a:xfrm>
        </p:spPr>
        <p:txBody>
          <a:bodyPr anchor="b"/>
          <a:lstStyle>
            <a:lvl1pPr marL="0" indent="0">
              <a:buNone/>
              <a:defRPr sz="10592" b="1"/>
            </a:lvl1pPr>
            <a:lvl2pPr marL="2017806" indent="0">
              <a:buNone/>
              <a:defRPr sz="8827" b="1"/>
            </a:lvl2pPr>
            <a:lvl3pPr marL="4035613" indent="0">
              <a:buNone/>
              <a:defRPr sz="7944" b="1"/>
            </a:lvl3pPr>
            <a:lvl4pPr marL="6053419" indent="0">
              <a:buNone/>
              <a:defRPr sz="7061" b="1"/>
            </a:lvl4pPr>
            <a:lvl5pPr marL="8071226" indent="0">
              <a:buNone/>
              <a:defRPr sz="7061" b="1"/>
            </a:lvl5pPr>
            <a:lvl6pPr marL="10089032" indent="0">
              <a:buNone/>
              <a:defRPr sz="7061" b="1"/>
            </a:lvl6pPr>
            <a:lvl7pPr marL="12106839" indent="0">
              <a:buNone/>
              <a:defRPr sz="7061" b="1"/>
            </a:lvl7pPr>
            <a:lvl8pPr marL="14124645" indent="0">
              <a:buNone/>
              <a:defRPr sz="7061" b="1"/>
            </a:lvl8pPr>
            <a:lvl9pPr marL="16142452" indent="0">
              <a:buNone/>
              <a:defRPr sz="7061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21664585" y="11055963"/>
            <a:ext cx="18193125" cy="1626165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0BF298-C765-4E3D-9D75-D692459D1A2E}" type="datetimeFigureOut">
              <a:rPr lang="en-US" smtClean="0"/>
              <a:t>11/30/2025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B25863-164B-4E3E-87FF-4C5BB28AF3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53669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0BF298-C765-4E3D-9D75-D692459D1A2E}" type="datetimeFigureOut">
              <a:rPr lang="en-US" smtClean="0"/>
              <a:t>11/30/2025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B25863-164B-4E3E-87FF-4C5BB28AF3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26583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0BF298-C765-4E3D-9D75-D692459D1A2E}" type="datetimeFigureOut">
              <a:rPr lang="en-US" smtClean="0"/>
              <a:t>11/30/2025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B25863-164B-4E3E-87FF-4C5BB28AF3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45433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947678" y="2017818"/>
            <a:ext cx="13802256" cy="7062364"/>
          </a:xfrm>
        </p:spPr>
        <p:txBody>
          <a:bodyPr anchor="b"/>
          <a:lstStyle>
            <a:lvl1pPr>
              <a:defRPr sz="14123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8193125" y="4357934"/>
            <a:ext cx="21664583" cy="21509383"/>
          </a:xfrm>
        </p:spPr>
        <p:txBody>
          <a:bodyPr/>
          <a:lstStyle>
            <a:lvl1pPr>
              <a:defRPr sz="14123"/>
            </a:lvl1pPr>
            <a:lvl2pPr>
              <a:defRPr sz="12358"/>
            </a:lvl2pPr>
            <a:lvl3pPr>
              <a:defRPr sz="10592"/>
            </a:lvl3pPr>
            <a:lvl4pPr>
              <a:defRPr sz="8827"/>
            </a:lvl4pPr>
            <a:lvl5pPr>
              <a:defRPr sz="8827"/>
            </a:lvl5pPr>
            <a:lvl6pPr>
              <a:defRPr sz="8827"/>
            </a:lvl6pPr>
            <a:lvl7pPr>
              <a:defRPr sz="8827"/>
            </a:lvl7pPr>
            <a:lvl8pPr>
              <a:defRPr sz="8827"/>
            </a:lvl8pPr>
            <a:lvl9pPr>
              <a:defRPr sz="8827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947678" y="9080183"/>
            <a:ext cx="13802256" cy="16822161"/>
          </a:xfrm>
        </p:spPr>
        <p:txBody>
          <a:bodyPr/>
          <a:lstStyle>
            <a:lvl1pPr marL="0" indent="0">
              <a:buNone/>
              <a:defRPr sz="7061"/>
            </a:lvl1pPr>
            <a:lvl2pPr marL="2017806" indent="0">
              <a:buNone/>
              <a:defRPr sz="6179"/>
            </a:lvl2pPr>
            <a:lvl3pPr marL="4035613" indent="0">
              <a:buNone/>
              <a:defRPr sz="5296"/>
            </a:lvl3pPr>
            <a:lvl4pPr marL="6053419" indent="0">
              <a:buNone/>
              <a:defRPr sz="4413"/>
            </a:lvl4pPr>
            <a:lvl5pPr marL="8071226" indent="0">
              <a:buNone/>
              <a:defRPr sz="4413"/>
            </a:lvl5pPr>
            <a:lvl6pPr marL="10089032" indent="0">
              <a:buNone/>
              <a:defRPr sz="4413"/>
            </a:lvl6pPr>
            <a:lvl7pPr marL="12106839" indent="0">
              <a:buNone/>
              <a:defRPr sz="4413"/>
            </a:lvl7pPr>
            <a:lvl8pPr marL="14124645" indent="0">
              <a:buNone/>
              <a:defRPr sz="4413"/>
            </a:lvl8pPr>
            <a:lvl9pPr marL="16142452" indent="0">
              <a:buNone/>
              <a:defRPr sz="4413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0BF298-C765-4E3D-9D75-D692459D1A2E}" type="datetimeFigureOut">
              <a:rPr lang="en-US" smtClean="0"/>
              <a:t>11/30/2025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B25863-164B-4E3E-87FF-4C5BB28AF3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69788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947678" y="2017818"/>
            <a:ext cx="13802256" cy="7062364"/>
          </a:xfrm>
        </p:spPr>
        <p:txBody>
          <a:bodyPr anchor="b"/>
          <a:lstStyle>
            <a:lvl1pPr>
              <a:defRPr sz="14123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8193125" y="4357934"/>
            <a:ext cx="21664583" cy="21509383"/>
          </a:xfrm>
        </p:spPr>
        <p:txBody>
          <a:bodyPr anchor="t"/>
          <a:lstStyle>
            <a:lvl1pPr marL="0" indent="0">
              <a:buNone/>
              <a:defRPr sz="14123"/>
            </a:lvl1pPr>
            <a:lvl2pPr marL="2017806" indent="0">
              <a:buNone/>
              <a:defRPr sz="12358"/>
            </a:lvl2pPr>
            <a:lvl3pPr marL="4035613" indent="0">
              <a:buNone/>
              <a:defRPr sz="10592"/>
            </a:lvl3pPr>
            <a:lvl4pPr marL="6053419" indent="0">
              <a:buNone/>
              <a:defRPr sz="8827"/>
            </a:lvl4pPr>
            <a:lvl5pPr marL="8071226" indent="0">
              <a:buNone/>
              <a:defRPr sz="8827"/>
            </a:lvl5pPr>
            <a:lvl6pPr marL="10089032" indent="0">
              <a:buNone/>
              <a:defRPr sz="8827"/>
            </a:lvl6pPr>
            <a:lvl7pPr marL="12106839" indent="0">
              <a:buNone/>
              <a:defRPr sz="8827"/>
            </a:lvl7pPr>
            <a:lvl8pPr marL="14124645" indent="0">
              <a:buNone/>
              <a:defRPr sz="8827"/>
            </a:lvl8pPr>
            <a:lvl9pPr marL="16142452" indent="0">
              <a:buNone/>
              <a:defRPr sz="8827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947678" y="9080183"/>
            <a:ext cx="13802256" cy="16822161"/>
          </a:xfrm>
        </p:spPr>
        <p:txBody>
          <a:bodyPr/>
          <a:lstStyle>
            <a:lvl1pPr marL="0" indent="0">
              <a:buNone/>
              <a:defRPr sz="7061"/>
            </a:lvl1pPr>
            <a:lvl2pPr marL="2017806" indent="0">
              <a:buNone/>
              <a:defRPr sz="6179"/>
            </a:lvl2pPr>
            <a:lvl3pPr marL="4035613" indent="0">
              <a:buNone/>
              <a:defRPr sz="5296"/>
            </a:lvl3pPr>
            <a:lvl4pPr marL="6053419" indent="0">
              <a:buNone/>
              <a:defRPr sz="4413"/>
            </a:lvl4pPr>
            <a:lvl5pPr marL="8071226" indent="0">
              <a:buNone/>
              <a:defRPr sz="4413"/>
            </a:lvl5pPr>
            <a:lvl6pPr marL="10089032" indent="0">
              <a:buNone/>
              <a:defRPr sz="4413"/>
            </a:lvl6pPr>
            <a:lvl7pPr marL="12106839" indent="0">
              <a:buNone/>
              <a:defRPr sz="4413"/>
            </a:lvl7pPr>
            <a:lvl8pPr marL="14124645" indent="0">
              <a:buNone/>
              <a:defRPr sz="4413"/>
            </a:lvl8pPr>
            <a:lvl9pPr marL="16142452" indent="0">
              <a:buNone/>
              <a:defRPr sz="4413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0BF298-C765-4E3D-9D75-D692459D1A2E}" type="datetimeFigureOut">
              <a:rPr lang="en-US" smtClean="0"/>
              <a:t>11/30/2025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B25863-164B-4E3E-87FF-4C5BB28AF3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51754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0BF298-C765-4E3D-9D75-D692459D1A2E}" type="datetimeFigureOut">
              <a:rPr lang="en-US" smtClean="0"/>
              <a:t>11/30/2025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B25863-164B-4E3E-87FF-4C5BB28AF3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82368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30624629" y="1611452"/>
            <a:ext cx="9227508" cy="25650117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942106" y="1611452"/>
            <a:ext cx="27147595" cy="2565011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0BF298-C765-4E3D-9D75-D692459D1A2E}" type="datetimeFigureOut">
              <a:rPr lang="en-US" smtClean="0"/>
              <a:t>11/30/2025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B25863-164B-4E3E-87FF-4C5BB28AF3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84353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942104" y="1611459"/>
            <a:ext cx="36910030" cy="585027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42104" y="8057261"/>
            <a:ext cx="36910030" cy="1920430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942104" y="28053287"/>
            <a:ext cx="9628704" cy="161145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5296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20BF298-C765-4E3D-9D75-D692459D1A2E}" type="datetimeFigureOut">
              <a:rPr lang="en-US" smtClean="0"/>
              <a:t>11/30/2025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175592" y="28053287"/>
            <a:ext cx="14443055" cy="161145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5296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30223430" y="28053287"/>
            <a:ext cx="9628704" cy="161145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5296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6B25863-164B-4E3E-87FF-4C5BB28AF3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26259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4035613" rtl="0" eaLnBrk="1" latinLnBrk="0" hangingPunct="1">
        <a:lnSpc>
          <a:spcPct val="90000"/>
        </a:lnSpc>
        <a:spcBef>
          <a:spcPct val="0"/>
        </a:spcBef>
        <a:buNone/>
        <a:defRPr sz="19419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008903" indent="-1008903" algn="l" defTabSz="4035613" rtl="0" eaLnBrk="1" latinLnBrk="0" hangingPunct="1">
        <a:lnSpc>
          <a:spcPct val="90000"/>
        </a:lnSpc>
        <a:spcBef>
          <a:spcPts val="4413"/>
        </a:spcBef>
        <a:buFont typeface="Arial" panose="020B0604020202020204" pitchFamily="34" charset="0"/>
        <a:buChar char="•"/>
        <a:defRPr sz="12358" kern="1200">
          <a:solidFill>
            <a:schemeClr val="tx1"/>
          </a:solidFill>
          <a:latin typeface="+mn-lt"/>
          <a:ea typeface="+mn-ea"/>
          <a:cs typeface="+mn-cs"/>
        </a:defRPr>
      </a:lvl1pPr>
      <a:lvl2pPr marL="3026710" indent="-1008903" algn="l" defTabSz="4035613" rtl="0" eaLnBrk="1" latinLnBrk="0" hangingPunct="1">
        <a:lnSpc>
          <a:spcPct val="90000"/>
        </a:lnSpc>
        <a:spcBef>
          <a:spcPts val="2207"/>
        </a:spcBef>
        <a:buFont typeface="Arial" panose="020B0604020202020204" pitchFamily="34" charset="0"/>
        <a:buChar char="•"/>
        <a:defRPr sz="10592" kern="1200">
          <a:solidFill>
            <a:schemeClr val="tx1"/>
          </a:solidFill>
          <a:latin typeface="+mn-lt"/>
          <a:ea typeface="+mn-ea"/>
          <a:cs typeface="+mn-cs"/>
        </a:defRPr>
      </a:lvl2pPr>
      <a:lvl3pPr marL="5044516" indent="-1008903" algn="l" defTabSz="4035613" rtl="0" eaLnBrk="1" latinLnBrk="0" hangingPunct="1">
        <a:lnSpc>
          <a:spcPct val="90000"/>
        </a:lnSpc>
        <a:spcBef>
          <a:spcPts val="2207"/>
        </a:spcBef>
        <a:buFont typeface="Arial" panose="020B0604020202020204" pitchFamily="34" charset="0"/>
        <a:buChar char="•"/>
        <a:defRPr sz="8827" kern="1200">
          <a:solidFill>
            <a:schemeClr val="tx1"/>
          </a:solidFill>
          <a:latin typeface="+mn-lt"/>
          <a:ea typeface="+mn-ea"/>
          <a:cs typeface="+mn-cs"/>
        </a:defRPr>
      </a:lvl3pPr>
      <a:lvl4pPr marL="7062323" indent="-1008903" algn="l" defTabSz="4035613" rtl="0" eaLnBrk="1" latinLnBrk="0" hangingPunct="1">
        <a:lnSpc>
          <a:spcPct val="90000"/>
        </a:lnSpc>
        <a:spcBef>
          <a:spcPts val="2207"/>
        </a:spcBef>
        <a:buFont typeface="Arial" panose="020B0604020202020204" pitchFamily="34" charset="0"/>
        <a:buChar char="•"/>
        <a:defRPr sz="7944" kern="1200">
          <a:solidFill>
            <a:schemeClr val="tx1"/>
          </a:solidFill>
          <a:latin typeface="+mn-lt"/>
          <a:ea typeface="+mn-ea"/>
          <a:cs typeface="+mn-cs"/>
        </a:defRPr>
      </a:lvl4pPr>
      <a:lvl5pPr marL="9080129" indent="-1008903" algn="l" defTabSz="4035613" rtl="0" eaLnBrk="1" latinLnBrk="0" hangingPunct="1">
        <a:lnSpc>
          <a:spcPct val="90000"/>
        </a:lnSpc>
        <a:spcBef>
          <a:spcPts val="2207"/>
        </a:spcBef>
        <a:buFont typeface="Arial" panose="020B0604020202020204" pitchFamily="34" charset="0"/>
        <a:buChar char="•"/>
        <a:defRPr sz="7944" kern="1200">
          <a:solidFill>
            <a:schemeClr val="tx1"/>
          </a:solidFill>
          <a:latin typeface="+mn-lt"/>
          <a:ea typeface="+mn-ea"/>
          <a:cs typeface="+mn-cs"/>
        </a:defRPr>
      </a:lvl5pPr>
      <a:lvl6pPr marL="11097936" indent="-1008903" algn="l" defTabSz="4035613" rtl="0" eaLnBrk="1" latinLnBrk="0" hangingPunct="1">
        <a:lnSpc>
          <a:spcPct val="90000"/>
        </a:lnSpc>
        <a:spcBef>
          <a:spcPts val="2207"/>
        </a:spcBef>
        <a:buFont typeface="Arial" panose="020B0604020202020204" pitchFamily="34" charset="0"/>
        <a:buChar char="•"/>
        <a:defRPr sz="7944" kern="1200">
          <a:solidFill>
            <a:schemeClr val="tx1"/>
          </a:solidFill>
          <a:latin typeface="+mn-lt"/>
          <a:ea typeface="+mn-ea"/>
          <a:cs typeface="+mn-cs"/>
        </a:defRPr>
      </a:lvl6pPr>
      <a:lvl7pPr marL="13115742" indent="-1008903" algn="l" defTabSz="4035613" rtl="0" eaLnBrk="1" latinLnBrk="0" hangingPunct="1">
        <a:lnSpc>
          <a:spcPct val="90000"/>
        </a:lnSpc>
        <a:spcBef>
          <a:spcPts val="2207"/>
        </a:spcBef>
        <a:buFont typeface="Arial" panose="020B0604020202020204" pitchFamily="34" charset="0"/>
        <a:buChar char="•"/>
        <a:defRPr sz="7944" kern="1200">
          <a:solidFill>
            <a:schemeClr val="tx1"/>
          </a:solidFill>
          <a:latin typeface="+mn-lt"/>
          <a:ea typeface="+mn-ea"/>
          <a:cs typeface="+mn-cs"/>
        </a:defRPr>
      </a:lvl7pPr>
      <a:lvl8pPr marL="15133549" indent="-1008903" algn="l" defTabSz="4035613" rtl="0" eaLnBrk="1" latinLnBrk="0" hangingPunct="1">
        <a:lnSpc>
          <a:spcPct val="90000"/>
        </a:lnSpc>
        <a:spcBef>
          <a:spcPts val="2207"/>
        </a:spcBef>
        <a:buFont typeface="Arial" panose="020B0604020202020204" pitchFamily="34" charset="0"/>
        <a:buChar char="•"/>
        <a:defRPr sz="7944" kern="1200">
          <a:solidFill>
            <a:schemeClr val="tx1"/>
          </a:solidFill>
          <a:latin typeface="+mn-lt"/>
          <a:ea typeface="+mn-ea"/>
          <a:cs typeface="+mn-cs"/>
        </a:defRPr>
      </a:lvl8pPr>
      <a:lvl9pPr marL="17151355" indent="-1008903" algn="l" defTabSz="4035613" rtl="0" eaLnBrk="1" latinLnBrk="0" hangingPunct="1">
        <a:lnSpc>
          <a:spcPct val="90000"/>
        </a:lnSpc>
        <a:spcBef>
          <a:spcPts val="2207"/>
        </a:spcBef>
        <a:buFont typeface="Arial" panose="020B0604020202020204" pitchFamily="34" charset="0"/>
        <a:buChar char="•"/>
        <a:defRPr sz="7944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035613" rtl="0" eaLnBrk="1" latinLnBrk="0" hangingPunct="1">
        <a:defRPr sz="7944" kern="1200">
          <a:solidFill>
            <a:schemeClr val="tx1"/>
          </a:solidFill>
          <a:latin typeface="+mn-lt"/>
          <a:ea typeface="+mn-ea"/>
          <a:cs typeface="+mn-cs"/>
        </a:defRPr>
      </a:lvl1pPr>
      <a:lvl2pPr marL="2017806" algn="l" defTabSz="4035613" rtl="0" eaLnBrk="1" latinLnBrk="0" hangingPunct="1">
        <a:defRPr sz="7944" kern="1200">
          <a:solidFill>
            <a:schemeClr val="tx1"/>
          </a:solidFill>
          <a:latin typeface="+mn-lt"/>
          <a:ea typeface="+mn-ea"/>
          <a:cs typeface="+mn-cs"/>
        </a:defRPr>
      </a:lvl2pPr>
      <a:lvl3pPr marL="4035613" algn="l" defTabSz="4035613" rtl="0" eaLnBrk="1" latinLnBrk="0" hangingPunct="1">
        <a:defRPr sz="7944" kern="1200">
          <a:solidFill>
            <a:schemeClr val="tx1"/>
          </a:solidFill>
          <a:latin typeface="+mn-lt"/>
          <a:ea typeface="+mn-ea"/>
          <a:cs typeface="+mn-cs"/>
        </a:defRPr>
      </a:lvl3pPr>
      <a:lvl4pPr marL="6053419" algn="l" defTabSz="4035613" rtl="0" eaLnBrk="1" latinLnBrk="0" hangingPunct="1">
        <a:defRPr sz="7944" kern="1200">
          <a:solidFill>
            <a:schemeClr val="tx1"/>
          </a:solidFill>
          <a:latin typeface="+mn-lt"/>
          <a:ea typeface="+mn-ea"/>
          <a:cs typeface="+mn-cs"/>
        </a:defRPr>
      </a:lvl4pPr>
      <a:lvl5pPr marL="8071226" algn="l" defTabSz="4035613" rtl="0" eaLnBrk="1" latinLnBrk="0" hangingPunct="1">
        <a:defRPr sz="7944" kern="1200">
          <a:solidFill>
            <a:schemeClr val="tx1"/>
          </a:solidFill>
          <a:latin typeface="+mn-lt"/>
          <a:ea typeface="+mn-ea"/>
          <a:cs typeface="+mn-cs"/>
        </a:defRPr>
      </a:lvl5pPr>
      <a:lvl6pPr marL="10089032" algn="l" defTabSz="4035613" rtl="0" eaLnBrk="1" latinLnBrk="0" hangingPunct="1">
        <a:defRPr sz="7944" kern="1200">
          <a:solidFill>
            <a:schemeClr val="tx1"/>
          </a:solidFill>
          <a:latin typeface="+mn-lt"/>
          <a:ea typeface="+mn-ea"/>
          <a:cs typeface="+mn-cs"/>
        </a:defRPr>
      </a:lvl6pPr>
      <a:lvl7pPr marL="12106839" algn="l" defTabSz="4035613" rtl="0" eaLnBrk="1" latinLnBrk="0" hangingPunct="1">
        <a:defRPr sz="7944" kern="1200">
          <a:solidFill>
            <a:schemeClr val="tx1"/>
          </a:solidFill>
          <a:latin typeface="+mn-lt"/>
          <a:ea typeface="+mn-ea"/>
          <a:cs typeface="+mn-cs"/>
        </a:defRPr>
      </a:lvl7pPr>
      <a:lvl8pPr marL="14124645" algn="l" defTabSz="4035613" rtl="0" eaLnBrk="1" latinLnBrk="0" hangingPunct="1">
        <a:defRPr sz="7944" kern="1200">
          <a:solidFill>
            <a:schemeClr val="tx1"/>
          </a:solidFill>
          <a:latin typeface="+mn-lt"/>
          <a:ea typeface="+mn-ea"/>
          <a:cs typeface="+mn-cs"/>
        </a:defRPr>
      </a:lvl8pPr>
      <a:lvl9pPr marL="16142452" algn="l" defTabSz="4035613" rtl="0" eaLnBrk="1" latinLnBrk="0" hangingPunct="1">
        <a:defRPr sz="7944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Research in Crisis Settings: Challenges &amp; Opportunities - Home">
            <a:extLst>
              <a:ext uri="{FF2B5EF4-FFF2-40B4-BE49-F238E27FC236}">
                <a16:creationId xmlns:a16="http://schemas.microsoft.com/office/drawing/2014/main" id="{E9158800-70B8-837C-0608-CE840C0F4C1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7045" y="442683"/>
            <a:ext cx="8474075" cy="28136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Industry Problems. Solved.">
            <a:extLst>
              <a:ext uri="{FF2B5EF4-FFF2-40B4-BE49-F238E27FC236}">
                <a16:creationId xmlns:a16="http://schemas.microsoft.com/office/drawing/2014/main" id="{3D564D5F-BB41-00C7-65A2-33FCE0579C6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455678" y="478745"/>
            <a:ext cx="11125200" cy="25991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DACD2305-9CF0-50C7-F974-844272042582}"/>
              </a:ext>
            </a:extLst>
          </p:cNvPr>
          <p:cNvSpPr txBox="1"/>
          <p:nvPr/>
        </p:nvSpPr>
        <p:spPr>
          <a:xfrm>
            <a:off x="16520160" y="431062"/>
            <a:ext cx="21396960" cy="26468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600" dirty="0" err="1">
                <a:solidFill>
                  <a:srgbClr val="840032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Matchify</a:t>
            </a:r>
            <a:endParaRPr lang="en-US" sz="16600" dirty="0">
              <a:solidFill>
                <a:srgbClr val="840032"/>
              </a:solidFill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3345903-424F-2E1E-1122-61CD4F95D137}"/>
              </a:ext>
            </a:extLst>
          </p:cNvPr>
          <p:cNvSpPr txBox="1"/>
          <p:nvPr/>
        </p:nvSpPr>
        <p:spPr>
          <a:xfrm>
            <a:off x="14239549" y="2840842"/>
            <a:ext cx="14315137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800" b="1" dirty="0">
                <a:solidFill>
                  <a:srgbClr val="840032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Mounir Khalil  –  Haidar Yassine  –  Hassan Khalil</a:t>
            </a:r>
          </a:p>
        </p:txBody>
      </p:sp>
      <p:sp>
        <p:nvSpPr>
          <p:cNvPr id="12" name="Rounded Rectangle 25">
            <a:extLst>
              <a:ext uri="{FF2B5EF4-FFF2-40B4-BE49-F238E27FC236}">
                <a16:creationId xmlns:a16="http://schemas.microsoft.com/office/drawing/2014/main" id="{D74A456F-C32C-A795-1CD6-2FF0E2281064}"/>
              </a:ext>
            </a:extLst>
          </p:cNvPr>
          <p:cNvSpPr/>
          <p:nvPr/>
        </p:nvSpPr>
        <p:spPr>
          <a:xfrm>
            <a:off x="1387001" y="4883074"/>
            <a:ext cx="9280853" cy="10846015"/>
          </a:xfrm>
          <a:prstGeom prst="roundRect">
            <a:avLst>
              <a:gd name="adj" fmla="val 7577"/>
            </a:avLst>
          </a:prstGeom>
          <a:solidFill>
            <a:srgbClr val="840032"/>
          </a:solidFill>
          <a:ln w="1016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498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Rounded Rectangle 30">
            <a:extLst>
              <a:ext uri="{FF2B5EF4-FFF2-40B4-BE49-F238E27FC236}">
                <a16:creationId xmlns:a16="http://schemas.microsoft.com/office/drawing/2014/main" id="{28FADA7D-CFF1-4E69-89BD-3AF0E06E6B8E}"/>
              </a:ext>
            </a:extLst>
          </p:cNvPr>
          <p:cNvSpPr/>
          <p:nvPr/>
        </p:nvSpPr>
        <p:spPr>
          <a:xfrm>
            <a:off x="1387001" y="16149690"/>
            <a:ext cx="9297675" cy="13233030"/>
          </a:xfrm>
          <a:prstGeom prst="roundRect">
            <a:avLst>
              <a:gd name="adj" fmla="val 6325"/>
            </a:avLst>
          </a:prstGeom>
          <a:solidFill>
            <a:schemeClr val="accent6">
              <a:lumMod val="75000"/>
            </a:schemeClr>
          </a:solidFill>
          <a:ln w="1016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498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Rounded Rectangle 32">
            <a:extLst>
              <a:ext uri="{FF2B5EF4-FFF2-40B4-BE49-F238E27FC236}">
                <a16:creationId xmlns:a16="http://schemas.microsoft.com/office/drawing/2014/main" id="{AABC43C2-1A1A-D51C-991F-A180476883C5}"/>
              </a:ext>
            </a:extLst>
          </p:cNvPr>
          <p:cNvSpPr/>
          <p:nvPr/>
        </p:nvSpPr>
        <p:spPr>
          <a:xfrm>
            <a:off x="11611541" y="4883072"/>
            <a:ext cx="19539041" cy="24499648"/>
          </a:xfrm>
          <a:prstGeom prst="roundRect">
            <a:avLst>
              <a:gd name="adj" fmla="val 2821"/>
            </a:avLst>
          </a:prstGeom>
          <a:solidFill>
            <a:schemeClr val="accent1">
              <a:lumMod val="40000"/>
              <a:lumOff val="60000"/>
            </a:schemeClr>
          </a:solidFill>
          <a:ln w="1016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498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Rounded Rectangle 34">
            <a:extLst>
              <a:ext uri="{FF2B5EF4-FFF2-40B4-BE49-F238E27FC236}">
                <a16:creationId xmlns:a16="http://schemas.microsoft.com/office/drawing/2014/main" id="{1A967206-3DED-35E1-399D-5B286D60672F}"/>
              </a:ext>
            </a:extLst>
          </p:cNvPr>
          <p:cNvSpPr/>
          <p:nvPr/>
        </p:nvSpPr>
        <p:spPr>
          <a:xfrm>
            <a:off x="32094266" y="4883073"/>
            <a:ext cx="9312971" cy="13763415"/>
          </a:xfrm>
          <a:prstGeom prst="roundRect">
            <a:avLst>
              <a:gd name="adj" fmla="val 6326"/>
            </a:avLst>
          </a:prstGeom>
          <a:solidFill>
            <a:schemeClr val="accent2"/>
          </a:solidFill>
          <a:ln w="1016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498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Rounded Rectangle 36">
            <a:extLst>
              <a:ext uri="{FF2B5EF4-FFF2-40B4-BE49-F238E27FC236}">
                <a16:creationId xmlns:a16="http://schemas.microsoft.com/office/drawing/2014/main" id="{D20E8E12-FF9D-E1ED-40AC-7166B8FBC660}"/>
              </a:ext>
            </a:extLst>
          </p:cNvPr>
          <p:cNvSpPr/>
          <p:nvPr/>
        </p:nvSpPr>
        <p:spPr>
          <a:xfrm>
            <a:off x="32094264" y="19215913"/>
            <a:ext cx="9312972" cy="10166807"/>
          </a:xfrm>
          <a:prstGeom prst="roundRect">
            <a:avLst>
              <a:gd name="adj" fmla="val 11553"/>
            </a:avLst>
          </a:prstGeom>
          <a:solidFill>
            <a:srgbClr val="840032"/>
          </a:solidFill>
          <a:ln w="1016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498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B39F5DD6-A697-8226-5E64-77B6DA38141F}"/>
              </a:ext>
            </a:extLst>
          </p:cNvPr>
          <p:cNvSpPr txBox="1"/>
          <p:nvPr/>
        </p:nvSpPr>
        <p:spPr>
          <a:xfrm>
            <a:off x="32808004" y="19587752"/>
            <a:ext cx="909046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200" b="1" dirty="0">
                <a:solidFill>
                  <a:schemeClr val="bg1"/>
                </a:solidFill>
              </a:rPr>
              <a:t>Safety &amp; Ethics Realism</a:t>
            </a:r>
            <a:endParaRPr lang="en-US" sz="52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C4664E40-E507-7D3C-C9B3-D969E8C8EB79}"/>
              </a:ext>
            </a:extLst>
          </p:cNvPr>
          <p:cNvSpPr txBox="1"/>
          <p:nvPr/>
        </p:nvSpPr>
        <p:spPr>
          <a:xfrm>
            <a:off x="33057449" y="5308446"/>
            <a:ext cx="7489690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400" b="1" dirty="0">
                <a:solidFill>
                  <a:schemeClr val="bg1"/>
                </a:solidFill>
              </a:rPr>
              <a:t>Our Idea in 60 Seconds</a:t>
            </a:r>
          </a:p>
          <a:p>
            <a:endParaRPr lang="en-US" sz="4400" b="1" dirty="0">
              <a:solidFill>
                <a:srgbClr val="C8102E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19CCBD73-49AC-69A8-80BA-B227D6B7E600}"/>
              </a:ext>
            </a:extLst>
          </p:cNvPr>
          <p:cNvSpPr txBox="1"/>
          <p:nvPr/>
        </p:nvSpPr>
        <p:spPr>
          <a:xfrm>
            <a:off x="32372692" y="20610195"/>
            <a:ext cx="8859205" cy="88639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dirty="0">
                <a:solidFill>
                  <a:schemeClr val="bg1"/>
                </a:solidFill>
              </a:rPr>
              <a:t>We design our platform with trust, transparency, and fairness at its core.</a:t>
            </a:r>
          </a:p>
          <a:p>
            <a:endParaRPr lang="en-US" sz="3000" dirty="0">
              <a:solidFill>
                <a:schemeClr val="bg1"/>
              </a:solidFill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000" dirty="0">
                <a:solidFill>
                  <a:schemeClr val="bg1"/>
                </a:solidFill>
              </a:rPr>
              <a:t>Explicit User Consent – No applications are submitted without clear user approval, unless the user has deliberately enabled full automation.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3000" dirty="0">
              <a:solidFill>
                <a:schemeClr val="bg1"/>
              </a:solidFill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000" dirty="0">
                <a:solidFill>
                  <a:schemeClr val="bg1"/>
                </a:solidFill>
              </a:rPr>
              <a:t>Privacy &amp; Control – Users fully manage their CV visibility, personal data, and sharing preferences.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3000" dirty="0">
              <a:solidFill>
                <a:schemeClr val="bg1"/>
              </a:solidFill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000" dirty="0">
                <a:solidFill>
                  <a:schemeClr val="bg1"/>
                </a:solidFill>
              </a:rPr>
              <a:t>Transparent Matching – Our matching process is explainable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3000" dirty="0">
              <a:solidFill>
                <a:schemeClr val="bg1"/>
              </a:solidFill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000" dirty="0">
                <a:solidFill>
                  <a:schemeClr val="bg1"/>
                </a:solidFill>
              </a:rPr>
              <a:t>Ethical AI Practices – We prevent unfair prioritization and ensure responsible recommendations.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3000" dirty="0">
              <a:solidFill>
                <a:schemeClr val="bg1"/>
              </a:solidFill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000" dirty="0">
                <a:solidFill>
                  <a:schemeClr val="bg1"/>
                </a:solidFill>
              </a:rPr>
              <a:t>Data Protection by Design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3000" dirty="0">
              <a:solidFill>
                <a:schemeClr val="bg1"/>
              </a:solidFill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83AECE34-1986-58B8-6615-2E21881F548E}"/>
              </a:ext>
            </a:extLst>
          </p:cNvPr>
          <p:cNvSpPr txBox="1"/>
          <p:nvPr/>
        </p:nvSpPr>
        <p:spPr>
          <a:xfrm>
            <a:off x="32269602" y="6634858"/>
            <a:ext cx="8962295" cy="110799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400" dirty="0">
                <a:solidFill>
                  <a:schemeClr val="bg1"/>
                </a:solidFill>
              </a:rPr>
              <a:t>Finding a job or the right candidate takes too much time.</a:t>
            </a:r>
          </a:p>
          <a:p>
            <a:br>
              <a:rPr lang="en-US" sz="3400" dirty="0">
                <a:solidFill>
                  <a:schemeClr val="bg1"/>
                </a:solidFill>
              </a:rPr>
            </a:br>
            <a:r>
              <a:rPr lang="en-US" sz="3400" dirty="0">
                <a:solidFill>
                  <a:schemeClr val="bg1"/>
                </a:solidFill>
              </a:rPr>
              <a:t>Our platform fixes this by using AI to automate the entire matching and application process, while keeping users in control.</a:t>
            </a:r>
          </a:p>
          <a:p>
            <a:endParaRPr lang="en-US" sz="3400" dirty="0">
              <a:solidFill>
                <a:schemeClr val="bg1"/>
              </a:solidFill>
            </a:endParaRP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400" dirty="0">
                <a:solidFill>
                  <a:schemeClr val="bg1"/>
                </a:solidFill>
              </a:rPr>
              <a:t>Recruiters post jobs and instantly get the best-matched candidates through smart filtering and a chatbot assistant.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endParaRPr lang="en-US" sz="3400" dirty="0">
              <a:solidFill>
                <a:schemeClr val="bg1"/>
              </a:solidFill>
            </a:endParaRP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400" dirty="0">
                <a:solidFill>
                  <a:schemeClr val="bg1"/>
                </a:solidFill>
              </a:rPr>
              <a:t>Job seekers create one account, and our agent finds jobs, tailors their CV, prepares the application, and applies for them — either with approval or fully automatically.</a:t>
            </a:r>
          </a:p>
          <a:p>
            <a:endParaRPr lang="en-US" sz="3400" dirty="0">
              <a:solidFill>
                <a:schemeClr val="bg1"/>
              </a:solidFill>
            </a:endParaRPr>
          </a:p>
          <a:p>
            <a:r>
              <a:rPr lang="en-US" sz="3400" dirty="0">
                <a:solidFill>
                  <a:schemeClr val="bg1"/>
                </a:solidFill>
              </a:rPr>
              <a:t>Users can switch to manual mode anytime, giving flexibility without losing convenience.</a:t>
            </a:r>
          </a:p>
          <a:p>
            <a:endParaRPr lang="en-US" sz="3400" dirty="0">
              <a:solidFill>
                <a:schemeClr val="bg1"/>
              </a:solidFill>
            </a:endParaRPr>
          </a:p>
          <a:p>
            <a:r>
              <a:rPr lang="en-US" sz="3400" dirty="0">
                <a:solidFill>
                  <a:schemeClr val="bg1"/>
                </a:solidFill>
              </a:rPr>
              <a:t>Result: Faster hiring, better matches, and less effort for everyone.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B95E3F58-13D7-525A-27B7-0A8F1EF0801B}"/>
              </a:ext>
            </a:extLst>
          </p:cNvPr>
          <p:cNvSpPr txBox="1"/>
          <p:nvPr/>
        </p:nvSpPr>
        <p:spPr>
          <a:xfrm>
            <a:off x="12016160" y="18008061"/>
            <a:ext cx="19522225" cy="104336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u="sng" dirty="0"/>
              <a:t>For Recruiters</a:t>
            </a:r>
          </a:p>
          <a:p>
            <a:r>
              <a:rPr lang="en-US" sz="3200" dirty="0"/>
              <a:t>Our platform simplifies the hiring process through intelligent tools:</a:t>
            </a:r>
          </a:p>
          <a:p>
            <a:endParaRPr lang="en-US" sz="32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/>
              <a:t>Instant Job Posting – Easily publish openings and access a real-time pool of candidate profiles. -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/>
              <a:t>Smart Chatbot Assistant – Recommends the best-matched applicants based on job requirements.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/>
              <a:t>Powerful Search &amp; Filters – Find candidates by skills, experience, or keywords with precision.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/>
              <a:t>Streamlined Dashboard – Review candidate profiles quickly with a clean, user-friendly interface.</a:t>
            </a:r>
          </a:p>
          <a:p>
            <a:endParaRPr lang="en-US" sz="3200" dirty="0"/>
          </a:p>
          <a:p>
            <a:r>
              <a:rPr lang="en-US" sz="3200" b="1" u="sng" dirty="0"/>
              <a:t>For Job Seekers</a:t>
            </a:r>
          </a:p>
          <a:p>
            <a:r>
              <a:rPr lang="en-US" sz="3200" dirty="0"/>
              <a:t>We remove repetitive tasks so job seekers can focus on opportunities, not forms: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b="1" dirty="0"/>
              <a:t>One-Time Setup</a:t>
            </a:r>
            <a:r>
              <a:rPr lang="en-US" sz="3200" dirty="0"/>
              <a:t> – Create an account once; no more endless manual applications.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b="1" dirty="0"/>
              <a:t>Intelligent Job Agent</a:t>
            </a:r>
            <a:r>
              <a:rPr lang="en-US" sz="3200" dirty="0"/>
              <a:t> that: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sz="3200" b="1" dirty="0"/>
              <a:t>Finds</a:t>
            </a:r>
            <a:r>
              <a:rPr lang="en-US" sz="3200" dirty="0"/>
              <a:t> matching job opportunities.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sz="3200" b="1" dirty="0"/>
              <a:t>Tailors</a:t>
            </a:r>
            <a:r>
              <a:rPr lang="en-US" sz="3200" dirty="0"/>
              <a:t> CVs to align with each job’s requirements.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sz="3200" b="1" dirty="0"/>
              <a:t>Prepares &amp; submits applications</a:t>
            </a:r>
            <a:r>
              <a:rPr lang="en-US" sz="3200" dirty="0"/>
              <a:t> — either automatically or with user approval.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sz="3200" b="1" dirty="0"/>
              <a:t>Sends real-time notifications</a:t>
            </a:r>
            <a:r>
              <a:rPr lang="en-US" sz="3200" dirty="0"/>
              <a:t> for every application.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b="1" dirty="0"/>
              <a:t>Manual Control Optional</a:t>
            </a:r>
            <a:r>
              <a:rPr lang="en-US" sz="3200" dirty="0"/>
              <a:t> – Users can update their CV or search/apply manually anytime, combining automation with flexibility.</a:t>
            </a:r>
          </a:p>
          <a:p>
            <a:endParaRPr lang="en-US" sz="3200" dirty="0"/>
          </a:p>
          <a:p>
            <a:r>
              <a:rPr lang="en-US" sz="3200" b="1" dirty="0"/>
              <a:t>Result:</a:t>
            </a:r>
            <a:r>
              <a:rPr lang="en-US" sz="3200" dirty="0"/>
              <a:t> A clear, efficient workflow that benefits both recruiters and job seekers through automation, smart matching, and control.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E4B495D5-EDDB-81EB-10B8-CDEDB027B587}"/>
              </a:ext>
            </a:extLst>
          </p:cNvPr>
          <p:cNvSpPr txBox="1"/>
          <p:nvPr/>
        </p:nvSpPr>
        <p:spPr>
          <a:xfrm>
            <a:off x="12016160" y="7042401"/>
            <a:ext cx="18729802" cy="89562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3200" dirty="0"/>
              <a:t>🔸 </a:t>
            </a:r>
            <a:r>
              <a:rPr lang="en-US" sz="3200" b="1" u="sng" dirty="0"/>
              <a:t>The Challenge</a:t>
            </a:r>
          </a:p>
          <a:p>
            <a:pPr lvl="2"/>
            <a:r>
              <a:rPr lang="en-US" sz="3200" dirty="0"/>
              <a:t>The job market is inefficient and time-consuming for both recruiters and job seekers:</a:t>
            </a:r>
          </a:p>
          <a:p>
            <a:pPr lvl="2">
              <a:buFont typeface="Arial" panose="020B0604020202020204" pitchFamily="34" charset="0"/>
              <a:buChar char="•"/>
            </a:pPr>
            <a:r>
              <a:rPr lang="en-US" sz="3200" dirty="0"/>
              <a:t>Recruiters spend excessive time filtering through irrelevant applications to find qualified candidates.</a:t>
            </a:r>
          </a:p>
          <a:p>
            <a:pPr lvl="2">
              <a:buFont typeface="Arial" panose="020B0604020202020204" pitchFamily="34" charset="0"/>
              <a:buChar char="•"/>
            </a:pPr>
            <a:r>
              <a:rPr lang="en-US" sz="3200" dirty="0"/>
              <a:t>Job seekers repeatedly tailor CVs and submit applications, often with low response rates and limited visibility.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3200" dirty="0"/>
          </a:p>
          <a:p>
            <a:pPr>
              <a:buNone/>
            </a:pPr>
            <a:r>
              <a:rPr lang="en-US" sz="3200" dirty="0"/>
              <a:t>🔸 </a:t>
            </a:r>
            <a:r>
              <a:rPr lang="en-US" sz="3200" b="1" u="sng" dirty="0"/>
              <a:t>User Insight</a:t>
            </a:r>
          </a:p>
          <a:p>
            <a:pPr lvl="2"/>
            <a:r>
              <a:rPr lang="en-US" sz="3200" dirty="0"/>
              <a:t>These inefficiencies stem from a manual, fragmented matching process that slows down hiring, frustrates applicants, and wastes valuable time for both sides.</a:t>
            </a:r>
          </a:p>
          <a:p>
            <a:pPr>
              <a:buNone/>
            </a:pPr>
            <a:endParaRPr lang="en-US" sz="3200" dirty="0"/>
          </a:p>
          <a:p>
            <a:pPr>
              <a:buNone/>
            </a:pPr>
            <a:r>
              <a:rPr lang="en-US" sz="3200" dirty="0"/>
              <a:t>🔸 </a:t>
            </a:r>
            <a:r>
              <a:rPr lang="en-US" sz="3200" b="1" u="sng" dirty="0"/>
              <a:t>Our Solution</a:t>
            </a:r>
          </a:p>
          <a:p>
            <a:pPr lvl="2"/>
            <a:r>
              <a:rPr lang="en-US" sz="3200" dirty="0"/>
              <a:t>We introduce an AI-powered job matching platform that:</a:t>
            </a:r>
          </a:p>
          <a:p>
            <a:pPr lvl="2">
              <a:buFont typeface="Arial" panose="020B0604020202020204" pitchFamily="34" charset="0"/>
              <a:buChar char="•"/>
            </a:pPr>
            <a:r>
              <a:rPr lang="en-US" sz="3200" dirty="0"/>
              <a:t>Fully automates the job search, CV tailoring, and application process.</a:t>
            </a:r>
          </a:p>
          <a:p>
            <a:pPr lvl="2">
              <a:buFont typeface="Arial" panose="020B0604020202020204" pitchFamily="34" charset="0"/>
              <a:buChar char="•"/>
            </a:pPr>
            <a:r>
              <a:rPr lang="en-US" sz="3200" dirty="0"/>
              <a:t>Lets users create one account, after which the intelligent agent finds, matches, prepares, and applies for jobs on their behalf.</a:t>
            </a:r>
          </a:p>
          <a:p>
            <a:pPr lvl="2">
              <a:buFont typeface="Arial" panose="020B0604020202020204" pitchFamily="34" charset="0"/>
              <a:buChar char="•"/>
            </a:pPr>
            <a:r>
              <a:rPr lang="en-US" sz="3200" dirty="0"/>
              <a:t>Keeps users in control with clear notifications and optional manual updates.</a:t>
            </a:r>
          </a:p>
          <a:p>
            <a:pPr>
              <a:buNone/>
            </a:pPr>
            <a:endParaRPr lang="en-US" sz="3200" dirty="0"/>
          </a:p>
          <a:p>
            <a:pPr>
              <a:buNone/>
            </a:pPr>
            <a:r>
              <a:rPr lang="en-US" sz="3200" b="1" dirty="0"/>
              <a:t>	Result: Faster hiring, better matches, and a seamless experience for everyone.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D04224D6-2535-5129-D504-E46AF375B9DB}"/>
              </a:ext>
            </a:extLst>
          </p:cNvPr>
          <p:cNvSpPr txBox="1"/>
          <p:nvPr/>
        </p:nvSpPr>
        <p:spPr>
          <a:xfrm>
            <a:off x="1562341" y="6513638"/>
            <a:ext cx="8859205" cy="93871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000" dirty="0">
                <a:solidFill>
                  <a:schemeClr val="bg1"/>
                </a:solidFill>
              </a:rPr>
              <a:t>Job Discovery – Continuously scans job listings to find the most relevant matches.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3000" dirty="0">
              <a:solidFill>
                <a:schemeClr val="bg1"/>
              </a:solidFill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000" dirty="0">
                <a:solidFill>
                  <a:schemeClr val="bg1"/>
                </a:solidFill>
              </a:rPr>
              <a:t>Profile Matching – Analyzes both the user’s CV and job requirements to ensure accurate alignment.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3000" dirty="0">
              <a:solidFill>
                <a:schemeClr val="bg1"/>
              </a:solidFill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000" dirty="0">
                <a:solidFill>
                  <a:schemeClr val="bg1"/>
                </a:solidFill>
              </a:rPr>
              <a:t>CV Tailoring – Automatically adapts the user’s CV to highlight the most relevant skills and experience.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3000" dirty="0">
              <a:solidFill>
                <a:schemeClr val="bg1"/>
              </a:solidFill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000" dirty="0">
                <a:solidFill>
                  <a:schemeClr val="bg1"/>
                </a:solidFill>
              </a:rPr>
              <a:t>Application Preparation &amp; Submission – Prepares all necessary documents and applies automatically (or with user approval).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3000" dirty="0">
              <a:solidFill>
                <a:schemeClr val="bg1"/>
              </a:solidFill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000" dirty="0">
                <a:solidFill>
                  <a:schemeClr val="bg1"/>
                </a:solidFill>
              </a:rPr>
              <a:t>Notifications &amp; Tracking – Sends real-time updates on each application’s status.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3000" dirty="0">
              <a:solidFill>
                <a:schemeClr val="bg1"/>
              </a:solidFill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b="1" dirty="0">
                <a:solidFill>
                  <a:schemeClr val="bg1"/>
                </a:solidFill>
              </a:rPr>
              <a:t>Interactive Chatbot</a:t>
            </a:r>
            <a:r>
              <a:rPr lang="en-US" sz="3200" dirty="0">
                <a:solidFill>
                  <a:schemeClr val="bg1"/>
                </a:solidFill>
              </a:rPr>
              <a:t> – Acts as an assistant to quickly surface the most relevant profiles.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3000" dirty="0">
              <a:solidFill>
                <a:schemeClr val="bg1"/>
              </a:solidFill>
            </a:endParaRP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B91649BC-2D37-2C3C-927B-930D436D7703}"/>
              </a:ext>
            </a:extLst>
          </p:cNvPr>
          <p:cNvSpPr txBox="1"/>
          <p:nvPr/>
        </p:nvSpPr>
        <p:spPr>
          <a:xfrm>
            <a:off x="1606235" y="18367902"/>
            <a:ext cx="8859205" cy="105567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400" dirty="0">
                <a:solidFill>
                  <a:schemeClr val="bg1"/>
                </a:solidFill>
              </a:rPr>
              <a:t>Information Retrieval – Recruiters can ask any question, and the chatbot provides accurate answers using a large, continuously updated dataset of candidate profiles and job information.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3400" dirty="0">
              <a:solidFill>
                <a:schemeClr val="bg1"/>
              </a:solidFill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400" dirty="0">
                <a:solidFill>
                  <a:schemeClr val="bg1"/>
                </a:solidFill>
              </a:rPr>
              <a:t>Candidate Evaluation – The chatbot can analyze and rank candidates based on recruiter inputs such as required skills, experience, or project history.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3400" dirty="0">
              <a:solidFill>
                <a:schemeClr val="bg1"/>
              </a:solidFill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400" dirty="0">
                <a:solidFill>
                  <a:schemeClr val="bg1"/>
                </a:solidFill>
              </a:rPr>
              <a:t>Smart Recommendations – Suggests the most relevant candidates in real time, helping recruiters make quicker decisions.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3400" dirty="0">
              <a:solidFill>
                <a:schemeClr val="bg1"/>
              </a:solidFill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400" dirty="0">
                <a:solidFill>
                  <a:schemeClr val="bg1"/>
                </a:solidFill>
              </a:rPr>
              <a:t>Automated Communication – When requested through the chatbot, the system can send personalized emails to candidates automatically (e.g., interview invitations or follow-ups).</a:t>
            </a:r>
          </a:p>
        </p:txBody>
      </p:sp>
      <p:sp>
        <p:nvSpPr>
          <p:cNvPr id="61" name="Rectangle: Rounded Corners 60">
            <a:extLst>
              <a:ext uri="{FF2B5EF4-FFF2-40B4-BE49-F238E27FC236}">
                <a16:creationId xmlns:a16="http://schemas.microsoft.com/office/drawing/2014/main" id="{6CEDA702-F341-94B5-ECAA-F40D7871E7C3}"/>
              </a:ext>
            </a:extLst>
          </p:cNvPr>
          <p:cNvSpPr/>
          <p:nvPr/>
        </p:nvSpPr>
        <p:spPr>
          <a:xfrm>
            <a:off x="13942289" y="5308446"/>
            <a:ext cx="14490477" cy="1397589"/>
          </a:xfrm>
          <a:prstGeom prst="round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C7A17B1D-9D58-68D4-3AB4-C5F876BBD25E}"/>
              </a:ext>
            </a:extLst>
          </p:cNvPr>
          <p:cNvSpPr txBox="1"/>
          <p:nvPr/>
        </p:nvSpPr>
        <p:spPr>
          <a:xfrm>
            <a:off x="14239549" y="5497975"/>
            <a:ext cx="15634491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None/>
            </a:pPr>
            <a:r>
              <a:rPr lang="en-US" sz="6000" b="1" dirty="0"/>
              <a:t>Problem Framing &amp; User Understanding</a:t>
            </a:r>
          </a:p>
        </p:txBody>
      </p:sp>
      <p:sp>
        <p:nvSpPr>
          <p:cNvPr id="62" name="Rectangle: Rounded Corners 61">
            <a:extLst>
              <a:ext uri="{FF2B5EF4-FFF2-40B4-BE49-F238E27FC236}">
                <a16:creationId xmlns:a16="http://schemas.microsoft.com/office/drawing/2014/main" id="{3A498A3C-0978-C38A-A25A-D55E4E20F701}"/>
              </a:ext>
            </a:extLst>
          </p:cNvPr>
          <p:cNvSpPr/>
          <p:nvPr/>
        </p:nvSpPr>
        <p:spPr>
          <a:xfrm>
            <a:off x="16367760" y="16368232"/>
            <a:ext cx="8656320" cy="1397589"/>
          </a:xfrm>
          <a:prstGeom prst="round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6F9ACC29-43A1-2D0A-E0B5-7B95DA4AC26B}"/>
              </a:ext>
            </a:extLst>
          </p:cNvPr>
          <p:cNvSpPr txBox="1"/>
          <p:nvPr/>
        </p:nvSpPr>
        <p:spPr>
          <a:xfrm>
            <a:off x="16747956" y="16606951"/>
            <a:ext cx="7727484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0" b="1" dirty="0"/>
              <a:t>Technical Plan Clarity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7C34DBDD-C1D5-0873-7E63-004D2A888452}"/>
              </a:ext>
            </a:extLst>
          </p:cNvPr>
          <p:cNvSpPr txBox="1"/>
          <p:nvPr/>
        </p:nvSpPr>
        <p:spPr>
          <a:xfrm>
            <a:off x="2040110" y="5347638"/>
            <a:ext cx="5367944" cy="19389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6000" b="1" dirty="0">
                <a:solidFill>
                  <a:schemeClr val="bg1"/>
                </a:solidFill>
              </a:rPr>
              <a:t>Agentic Work  :</a:t>
            </a:r>
          </a:p>
          <a:p>
            <a:endParaRPr lang="en-US" sz="6000" dirty="0">
              <a:solidFill>
                <a:schemeClr val="bg1"/>
              </a:solidFill>
            </a:endParaRPr>
          </a:p>
        </p:txBody>
      </p:sp>
      <p:sp>
        <p:nvSpPr>
          <p:cNvPr id="1025" name="TextBox 1024">
            <a:extLst>
              <a:ext uri="{FF2B5EF4-FFF2-40B4-BE49-F238E27FC236}">
                <a16:creationId xmlns:a16="http://schemas.microsoft.com/office/drawing/2014/main" id="{C6777E39-A2F6-D1D7-3433-CB3C4B8C5359}"/>
              </a:ext>
            </a:extLst>
          </p:cNvPr>
          <p:cNvSpPr txBox="1"/>
          <p:nvPr/>
        </p:nvSpPr>
        <p:spPr>
          <a:xfrm>
            <a:off x="2040110" y="16801824"/>
            <a:ext cx="8135863" cy="11079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6600" b="1" dirty="0">
                <a:solidFill>
                  <a:schemeClr val="bg1"/>
                </a:solidFill>
              </a:rPr>
              <a:t>Chatbot Integration </a:t>
            </a:r>
          </a:p>
        </p:txBody>
      </p:sp>
    </p:spTree>
    <p:extLst>
      <p:ext uri="{BB962C8B-B14F-4D97-AF65-F5344CB8AC3E}">
        <p14:creationId xmlns:p14="http://schemas.microsoft.com/office/powerpoint/2010/main" val="338540156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54</TotalTime>
  <Words>757</Words>
  <Application>Microsoft Office PowerPoint</Application>
  <PresentationFormat>Custom</PresentationFormat>
  <Paragraphs>81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ADLaM Display</vt:lpstr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Hassan Khalil</dc:creator>
  <cp:lastModifiedBy>Hassan Khalil</cp:lastModifiedBy>
  <cp:revision>1</cp:revision>
  <dcterms:created xsi:type="dcterms:W3CDTF">2025-10-03T15:29:19Z</dcterms:created>
  <dcterms:modified xsi:type="dcterms:W3CDTF">2025-11-29T22:03:23Z</dcterms:modified>
</cp:coreProperties>
</file>