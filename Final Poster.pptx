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113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3" y="142875"/>
            <a:ext cx="8715375" cy="6893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14313" y="810816"/>
            <a:ext cx="8715375" cy="2143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214313" y="142875"/>
            <a:ext cx="5250852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spc="-1" kern="0" dirty="0">
                <a:solidFill>
                  <a:srgbClr val="1A1A1A"/>
                </a:solidFill>
              </a:rPr>
              <a:t>AgenticMatch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214313" y="528638"/>
            <a:ext cx="52508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AI-Powered Job Matching Platform: Project Completion Results</a:t>
            </a:r>
            <a:endParaRPr lang="en-US" sz="88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320" y="601861"/>
            <a:ext cx="107156" cy="857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195" y="587573"/>
            <a:ext cx="181308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Mounir Khalil, Hassan Khalil, Haidar Yassine</a:t>
            </a:r>
            <a:endParaRPr lang="en-US" sz="584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737" y="601861"/>
            <a:ext cx="85725" cy="857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9181" y="587573"/>
            <a:ext cx="54153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matchify.live</a:t>
            </a:r>
            <a:endParaRPr lang="en-US" sz="584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0163" y="601861"/>
            <a:ext cx="75009" cy="857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60891" y="587573"/>
            <a:ext cx="36879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Jan 2025</a:t>
            </a:r>
            <a:endParaRPr lang="en-US" sz="584" dirty="0"/>
          </a:p>
        </p:txBody>
      </p:sp>
      <p:sp>
        <p:nvSpPr>
          <p:cNvPr id="13" name="Shape 7"/>
          <p:cNvSpPr/>
          <p:nvPr/>
        </p:nvSpPr>
        <p:spPr>
          <a:xfrm>
            <a:off x="214313" y="917972"/>
            <a:ext cx="2634258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8"/>
          <p:cNvSpPr/>
          <p:nvPr/>
        </p:nvSpPr>
        <p:spPr>
          <a:xfrm>
            <a:off x="214313" y="917972"/>
            <a:ext cx="28575" cy="1143000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469" y="1042988"/>
            <a:ext cx="100013" cy="1000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21481" y="1025128"/>
            <a:ext cx="8351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The Challenge</a:t>
            </a:r>
            <a:endParaRPr lang="en-US" sz="683" dirty="0"/>
          </a:p>
        </p:txBody>
      </p:sp>
      <p:sp>
        <p:nvSpPr>
          <p:cNvPr id="17" name="Text 10"/>
          <p:cNvSpPr/>
          <p:nvPr/>
        </p:nvSpPr>
        <p:spPr>
          <a:xfrm>
            <a:off x="321469" y="1275159"/>
            <a:ext cx="241994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Traditional job matching is broken and inefficient:</a:t>
            </a:r>
            <a:endParaRPr lang="en-US" sz="516" dirty="0"/>
          </a:p>
        </p:txBody>
      </p:sp>
      <p:sp>
        <p:nvSpPr>
          <p:cNvPr id="18" name="Text 11"/>
          <p:cNvSpPr/>
          <p:nvPr/>
        </p:nvSpPr>
        <p:spPr>
          <a:xfrm>
            <a:off x="428625" y="1410891"/>
            <a:ext cx="430271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444444"/>
                </a:solidFill>
              </a:rPr>
              <a:t>Job Seekers:</a:t>
            </a:r>
            <a:endParaRPr lang="en-US" sz="485" dirty="0"/>
          </a:p>
        </p:txBody>
      </p:sp>
      <p:sp>
        <p:nvSpPr>
          <p:cNvPr id="19" name="Text 12"/>
          <p:cNvSpPr/>
          <p:nvPr/>
        </p:nvSpPr>
        <p:spPr>
          <a:xfrm>
            <a:off x="858896" y="1410891"/>
            <a:ext cx="174594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18 min to fill profiles; 67% apply to unsuitable roles.</a:t>
            </a:r>
            <a:endParaRPr lang="en-US" sz="516" dirty="0"/>
          </a:p>
        </p:txBody>
      </p:sp>
      <p:sp>
        <p:nvSpPr>
          <p:cNvPr id="20" name="Text 13"/>
          <p:cNvSpPr/>
          <p:nvPr/>
        </p:nvSpPr>
        <p:spPr>
          <a:xfrm>
            <a:off x="428625" y="1546622"/>
            <a:ext cx="38877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444444"/>
                </a:solidFill>
              </a:rPr>
              <a:t>Recruiters:</a:t>
            </a:r>
            <a:endParaRPr lang="en-US" sz="485" dirty="0"/>
          </a:p>
        </p:txBody>
      </p:sp>
      <p:sp>
        <p:nvSpPr>
          <p:cNvPr id="21" name="Text 14"/>
          <p:cNvSpPr/>
          <p:nvPr/>
        </p:nvSpPr>
        <p:spPr>
          <a:xfrm>
            <a:off x="817401" y="1546622"/>
            <a:ext cx="179631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250+ apps/role, 88% unqualified; 23h screening time.</a:t>
            </a:r>
            <a:endParaRPr lang="en-US" sz="516" dirty="0"/>
          </a:p>
        </p:txBody>
      </p:sp>
      <p:sp>
        <p:nvSpPr>
          <p:cNvPr id="22" name="Text 15"/>
          <p:cNvSpPr/>
          <p:nvPr/>
        </p:nvSpPr>
        <p:spPr>
          <a:xfrm>
            <a:off x="428625" y="1682353"/>
            <a:ext cx="68853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444444"/>
                </a:solidFill>
              </a:rPr>
              <a:t>Keyword Matching:</a:t>
            </a:r>
            <a:endParaRPr lang="en-US" sz="485" dirty="0"/>
          </a:p>
        </p:txBody>
      </p:sp>
      <p:sp>
        <p:nvSpPr>
          <p:cNvPr id="23" name="Text 16"/>
          <p:cNvSpPr/>
          <p:nvPr/>
        </p:nvSpPr>
        <p:spPr>
          <a:xfrm>
            <a:off x="1117160" y="1682353"/>
            <a:ext cx="147046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Misses qualified candidates (semantic gap).</a:t>
            </a:r>
            <a:endParaRPr lang="en-US" sz="516" dirty="0"/>
          </a:p>
        </p:txBody>
      </p:sp>
      <p:sp>
        <p:nvSpPr>
          <p:cNvPr id="24" name="Text 17"/>
          <p:cNvSpPr/>
          <p:nvPr/>
        </p:nvSpPr>
        <p:spPr>
          <a:xfrm>
            <a:off x="428625" y="1818084"/>
            <a:ext cx="41578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444444"/>
                </a:solidFill>
              </a:rPr>
              <a:t>Bias &amp; Cost:</a:t>
            </a:r>
            <a:endParaRPr lang="en-US" sz="485" dirty="0"/>
          </a:p>
        </p:txBody>
      </p:sp>
      <p:sp>
        <p:nvSpPr>
          <p:cNvPr id="25" name="Text 18"/>
          <p:cNvSpPr/>
          <p:nvPr/>
        </p:nvSpPr>
        <p:spPr>
          <a:xfrm>
            <a:off x="844414" y="1818084"/>
            <a:ext cx="160522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Unconscious bias risk; $4,129 avg cost-per-hire.</a:t>
            </a:r>
            <a:endParaRPr lang="en-US" sz="516" dirty="0"/>
          </a:p>
        </p:txBody>
      </p:sp>
      <p:sp>
        <p:nvSpPr>
          <p:cNvPr id="26" name="Shape 19"/>
          <p:cNvSpPr/>
          <p:nvPr/>
        </p:nvSpPr>
        <p:spPr>
          <a:xfrm>
            <a:off x="214313" y="2118122"/>
            <a:ext cx="2634258" cy="18413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0"/>
          <p:cNvSpPr/>
          <p:nvPr/>
        </p:nvSpPr>
        <p:spPr>
          <a:xfrm>
            <a:off x="214313" y="2118122"/>
            <a:ext cx="28575" cy="1841302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469" y="2243138"/>
            <a:ext cx="125016" cy="10001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46484" y="2225278"/>
            <a:ext cx="8036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Our Solution</a:t>
            </a:r>
            <a:endParaRPr lang="en-US" sz="683" dirty="0"/>
          </a:p>
        </p:txBody>
      </p:sp>
      <p:sp>
        <p:nvSpPr>
          <p:cNvPr id="30" name="Text 22"/>
          <p:cNvSpPr/>
          <p:nvPr/>
        </p:nvSpPr>
        <p:spPr>
          <a:xfrm>
            <a:off x="321469" y="2475309"/>
            <a:ext cx="241994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444444"/>
                </a:solidFill>
              </a:rPr>
              <a:t>Multi-Agent Architecture: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 3 specialized agents working in concert.</a:t>
            </a:r>
            <a:endParaRPr lang="en-US" sz="485" dirty="0"/>
          </a:p>
        </p:txBody>
      </p:sp>
      <p:sp>
        <p:nvSpPr>
          <p:cNvPr id="31" name="Text 23"/>
          <p:cNvSpPr/>
          <p:nvPr/>
        </p:nvSpPr>
        <p:spPr>
          <a:xfrm>
            <a:off x="321469" y="2632472"/>
            <a:ext cx="24199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1. ProfilePal Agent</a:t>
            </a:r>
            <a:endParaRPr lang="en-US" sz="584" dirty="0"/>
          </a:p>
        </p:txBody>
      </p:sp>
      <p:sp>
        <p:nvSpPr>
          <p:cNvPr id="32" name="Text 24"/>
          <p:cNvSpPr/>
          <p:nvPr/>
        </p:nvSpPr>
        <p:spPr>
          <a:xfrm>
            <a:off x="321469" y="2777133"/>
            <a:ext cx="241994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Conversational CV parsing (94.2% accuracy).</a:t>
            </a:r>
            <a:endParaRPr lang="en-US" sz="516" dirty="0"/>
          </a:p>
        </p:txBody>
      </p:sp>
      <p:sp>
        <p:nvSpPr>
          <p:cNvPr id="33" name="Text 25"/>
          <p:cNvSpPr/>
          <p:nvPr/>
        </p:nvSpPr>
        <p:spPr>
          <a:xfrm>
            <a:off x="321469" y="2934295"/>
            <a:ext cx="24199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2. Matching Orchestrator</a:t>
            </a:r>
            <a:endParaRPr lang="en-US" sz="584" dirty="0"/>
          </a:p>
        </p:txBody>
      </p:sp>
      <p:sp>
        <p:nvSpPr>
          <p:cNvPr id="34" name="Text 26"/>
          <p:cNvSpPr/>
          <p:nvPr/>
        </p:nvSpPr>
        <p:spPr>
          <a:xfrm>
            <a:off x="321469" y="3078956"/>
            <a:ext cx="241994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Hybrid semantic + rule-based scoring.</a:t>
            </a:r>
            <a:endParaRPr lang="en-US" sz="516" dirty="0"/>
          </a:p>
        </p:txBody>
      </p:sp>
      <p:sp>
        <p:nvSpPr>
          <p:cNvPr id="35" name="Text 27"/>
          <p:cNvSpPr/>
          <p:nvPr/>
        </p:nvSpPr>
        <p:spPr>
          <a:xfrm>
            <a:off x="321469" y="3236119"/>
            <a:ext cx="24199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3. Recruiter Assistant</a:t>
            </a:r>
            <a:endParaRPr lang="en-US" sz="584" dirty="0"/>
          </a:p>
        </p:txBody>
      </p:sp>
      <p:sp>
        <p:nvSpPr>
          <p:cNvPr id="36" name="Text 28"/>
          <p:cNvSpPr/>
          <p:nvPr/>
        </p:nvSpPr>
        <p:spPr>
          <a:xfrm>
            <a:off x="321469" y="3380780"/>
            <a:ext cx="241994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Natural language search with LinkedIn enrichment.</a:t>
            </a:r>
            <a:endParaRPr lang="en-US" sz="516" dirty="0"/>
          </a:p>
        </p:txBody>
      </p:sp>
      <p:sp>
        <p:nvSpPr>
          <p:cNvPr id="37" name="Shape 29"/>
          <p:cNvSpPr/>
          <p:nvPr/>
        </p:nvSpPr>
        <p:spPr>
          <a:xfrm>
            <a:off x="321469" y="3537942"/>
            <a:ext cx="2419945" cy="314325"/>
          </a:xfrm>
          <a:prstGeom prst="rect">
            <a:avLst/>
          </a:prstGeom>
          <a:solidFill>
            <a:srgbClr val="E7F5FF"/>
          </a:solidFill>
          <a:ln/>
        </p:spPr>
      </p:sp>
      <p:sp>
        <p:nvSpPr>
          <p:cNvPr id="38" name="Text 30"/>
          <p:cNvSpPr/>
          <p:nvPr/>
        </p:nvSpPr>
        <p:spPr>
          <a:xfrm>
            <a:off x="378619" y="3595092"/>
            <a:ext cx="230564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0052CC"/>
                </a:solidFill>
              </a:rPr>
              <a:t>KEY INNOVATION: Hybrid Matching</a:t>
            </a:r>
            <a:endParaRPr lang="en-US" sz="485" dirty="0"/>
          </a:p>
        </p:txBody>
      </p:sp>
      <p:sp>
        <p:nvSpPr>
          <p:cNvPr id="39" name="Text 31"/>
          <p:cNvSpPr/>
          <p:nvPr/>
        </p:nvSpPr>
        <p:spPr>
          <a:xfrm>
            <a:off x="378619" y="3695105"/>
            <a:ext cx="230564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60% Semantic (AI) + 40% Rule-Based (Domain)</a:t>
            </a:r>
            <a:endParaRPr lang="en-US" sz="516" dirty="0"/>
          </a:p>
        </p:txBody>
      </p:sp>
      <p:sp>
        <p:nvSpPr>
          <p:cNvPr id="40" name="Shape 32"/>
          <p:cNvSpPr/>
          <p:nvPr/>
        </p:nvSpPr>
        <p:spPr>
          <a:xfrm>
            <a:off x="2991445" y="917972"/>
            <a:ext cx="3161109" cy="13448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3"/>
          <p:cNvSpPr/>
          <p:nvPr/>
        </p:nvSpPr>
        <p:spPr>
          <a:xfrm>
            <a:off x="2991445" y="917972"/>
            <a:ext cx="28575" cy="1344811"/>
          </a:xfrm>
          <a:prstGeom prst="rect">
            <a:avLst/>
          </a:prstGeom>
          <a:solidFill>
            <a:srgbClr val="28A745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8602" y="1042988"/>
            <a:ext cx="100013" cy="100013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3198614" y="1025128"/>
            <a:ext cx="12209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8A745"/>
                </a:solidFill>
              </a:rPr>
              <a:t>Quantitative Results</a:t>
            </a:r>
            <a:endParaRPr lang="en-US" sz="683" dirty="0"/>
          </a:p>
        </p:txBody>
      </p:sp>
      <p:sp>
        <p:nvSpPr>
          <p:cNvPr id="44" name="Text 35"/>
          <p:cNvSpPr/>
          <p:nvPr/>
        </p:nvSpPr>
        <p:spPr>
          <a:xfrm>
            <a:off x="3098602" y="1275159"/>
            <a:ext cx="741890" cy="137517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0052CC"/>
                </a:solidFill>
              </a:rPr>
              <a:t>Metric</a:t>
            </a:r>
            <a:endParaRPr lang="en-US" sz="435" dirty="0"/>
          </a:p>
        </p:txBody>
      </p:sp>
      <p:sp>
        <p:nvSpPr>
          <p:cNvPr id="45" name="Text 36"/>
          <p:cNvSpPr/>
          <p:nvPr/>
        </p:nvSpPr>
        <p:spPr>
          <a:xfrm>
            <a:off x="3840491" y="1275159"/>
            <a:ext cx="660127" cy="137517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0052CC"/>
                </a:solidFill>
              </a:rPr>
              <a:t>Our System</a:t>
            </a:r>
            <a:endParaRPr lang="en-US" sz="435" dirty="0"/>
          </a:p>
        </p:txBody>
      </p:sp>
      <p:sp>
        <p:nvSpPr>
          <p:cNvPr id="46" name="Text 37"/>
          <p:cNvSpPr/>
          <p:nvPr/>
        </p:nvSpPr>
        <p:spPr>
          <a:xfrm>
            <a:off x="4500618" y="1275159"/>
            <a:ext cx="542255" cy="137517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0052CC"/>
                </a:solidFill>
              </a:rPr>
              <a:t>Semantic</a:t>
            </a:r>
            <a:endParaRPr lang="en-US" sz="435" dirty="0"/>
          </a:p>
        </p:txBody>
      </p:sp>
      <p:sp>
        <p:nvSpPr>
          <p:cNvPr id="47" name="Text 38"/>
          <p:cNvSpPr/>
          <p:nvPr/>
        </p:nvSpPr>
        <p:spPr>
          <a:xfrm>
            <a:off x="5042874" y="1275159"/>
            <a:ext cx="512425" cy="137517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0052CC"/>
                </a:solidFill>
              </a:rPr>
              <a:t>Keyword</a:t>
            </a:r>
            <a:endParaRPr lang="en-US" sz="435" dirty="0"/>
          </a:p>
        </p:txBody>
      </p:sp>
      <p:sp>
        <p:nvSpPr>
          <p:cNvPr id="48" name="Text 39"/>
          <p:cNvSpPr/>
          <p:nvPr/>
        </p:nvSpPr>
        <p:spPr>
          <a:xfrm>
            <a:off x="5555298" y="1275159"/>
            <a:ext cx="490100" cy="137517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0052CC"/>
                </a:solidFill>
              </a:rPr>
              <a:t>Target</a:t>
            </a:r>
            <a:endParaRPr lang="en-US" sz="435" dirty="0"/>
          </a:p>
        </p:txBody>
      </p:sp>
      <p:sp>
        <p:nvSpPr>
          <p:cNvPr id="49" name="Shape 40"/>
          <p:cNvSpPr/>
          <p:nvPr/>
        </p:nvSpPr>
        <p:spPr>
          <a:xfrm>
            <a:off x="3098602" y="1412677"/>
            <a:ext cx="2946797" cy="141089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50" name="Text 41"/>
          <p:cNvSpPr/>
          <p:nvPr/>
        </p:nvSpPr>
        <p:spPr>
          <a:xfrm>
            <a:off x="3098602" y="1412677"/>
            <a:ext cx="741890" cy="141089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</a:rPr>
              <a:t>Precision@10</a:t>
            </a:r>
            <a:endParaRPr lang="en-US" sz="435" dirty="0"/>
          </a:p>
        </p:txBody>
      </p:sp>
      <p:sp>
        <p:nvSpPr>
          <p:cNvPr id="51" name="Text 42"/>
          <p:cNvSpPr/>
          <p:nvPr/>
        </p:nvSpPr>
        <p:spPr>
          <a:xfrm>
            <a:off x="3840491" y="1412677"/>
            <a:ext cx="660127" cy="141089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</a:rPr>
              <a:t>84.2%</a:t>
            </a:r>
            <a:endParaRPr lang="en-US" sz="435" dirty="0"/>
          </a:p>
        </p:txBody>
      </p:sp>
      <p:sp>
        <p:nvSpPr>
          <p:cNvPr id="52" name="Text 43"/>
          <p:cNvSpPr/>
          <p:nvPr/>
        </p:nvSpPr>
        <p:spPr>
          <a:xfrm>
            <a:off x="4500618" y="1412677"/>
            <a:ext cx="542255" cy="141089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</a:rPr>
              <a:t>72.4%</a:t>
            </a:r>
            <a:endParaRPr lang="en-US" sz="435" dirty="0"/>
          </a:p>
        </p:txBody>
      </p:sp>
      <p:sp>
        <p:nvSpPr>
          <p:cNvPr id="53" name="Text 44"/>
          <p:cNvSpPr/>
          <p:nvPr/>
        </p:nvSpPr>
        <p:spPr>
          <a:xfrm>
            <a:off x="5042874" y="1412677"/>
            <a:ext cx="512425" cy="141089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</a:rPr>
              <a:t>55.6%</a:t>
            </a:r>
            <a:endParaRPr lang="en-US" sz="435" dirty="0"/>
          </a:p>
        </p:txBody>
      </p:sp>
      <p:sp>
        <p:nvSpPr>
          <p:cNvPr id="54" name="Text 45"/>
          <p:cNvSpPr/>
          <p:nvPr/>
        </p:nvSpPr>
        <p:spPr>
          <a:xfrm>
            <a:off x="5555298" y="1412677"/>
            <a:ext cx="490100" cy="141089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</a:rPr>
              <a:t>&gt;80% ✅</a:t>
            </a:r>
            <a:endParaRPr lang="en-US" sz="435" dirty="0"/>
          </a:p>
        </p:txBody>
      </p:sp>
      <p:sp>
        <p:nvSpPr>
          <p:cNvPr id="55" name="Shape 46"/>
          <p:cNvSpPr/>
          <p:nvPr/>
        </p:nvSpPr>
        <p:spPr>
          <a:xfrm>
            <a:off x="3098602" y="1553766"/>
            <a:ext cx="2946797" cy="137517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56" name="Text 47"/>
          <p:cNvSpPr/>
          <p:nvPr/>
        </p:nvSpPr>
        <p:spPr>
          <a:xfrm>
            <a:off x="3098602" y="1553766"/>
            <a:ext cx="741890" cy="137517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</a:rPr>
              <a:t>Recall@10</a:t>
            </a:r>
            <a:endParaRPr lang="en-US" sz="435" dirty="0"/>
          </a:p>
        </p:txBody>
      </p:sp>
      <p:sp>
        <p:nvSpPr>
          <p:cNvPr id="57" name="Text 48"/>
          <p:cNvSpPr/>
          <p:nvPr/>
        </p:nvSpPr>
        <p:spPr>
          <a:xfrm>
            <a:off x="3840491" y="1553766"/>
            <a:ext cx="660127" cy="137517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</a:rPr>
              <a:t>76.8%</a:t>
            </a:r>
            <a:endParaRPr lang="en-US" sz="435" dirty="0"/>
          </a:p>
        </p:txBody>
      </p:sp>
      <p:sp>
        <p:nvSpPr>
          <p:cNvPr id="58" name="Text 49"/>
          <p:cNvSpPr/>
          <p:nvPr/>
        </p:nvSpPr>
        <p:spPr>
          <a:xfrm>
            <a:off x="4500618" y="1553766"/>
            <a:ext cx="542255" cy="137517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</a:rPr>
              <a:t>68.2%</a:t>
            </a:r>
            <a:endParaRPr lang="en-US" sz="435" dirty="0"/>
          </a:p>
        </p:txBody>
      </p:sp>
      <p:sp>
        <p:nvSpPr>
          <p:cNvPr id="59" name="Text 50"/>
          <p:cNvSpPr/>
          <p:nvPr/>
        </p:nvSpPr>
        <p:spPr>
          <a:xfrm>
            <a:off x="5042874" y="1553766"/>
            <a:ext cx="512425" cy="137517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</a:rPr>
              <a:t>44.8%</a:t>
            </a:r>
            <a:endParaRPr lang="en-US" sz="435" dirty="0"/>
          </a:p>
        </p:txBody>
      </p:sp>
      <p:sp>
        <p:nvSpPr>
          <p:cNvPr id="60" name="Text 51"/>
          <p:cNvSpPr/>
          <p:nvPr/>
        </p:nvSpPr>
        <p:spPr>
          <a:xfrm>
            <a:off x="5555298" y="1553766"/>
            <a:ext cx="490100" cy="137517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333333"/>
                </a:solidFill>
              </a:rPr>
              <a:t>&gt;70% ✅</a:t>
            </a:r>
            <a:endParaRPr lang="en-US" sz="435" dirty="0"/>
          </a:p>
        </p:txBody>
      </p:sp>
      <p:sp>
        <p:nvSpPr>
          <p:cNvPr id="61" name="Text 52"/>
          <p:cNvSpPr/>
          <p:nvPr/>
        </p:nvSpPr>
        <p:spPr>
          <a:xfrm>
            <a:off x="3098602" y="1691283"/>
            <a:ext cx="741890" cy="137517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</a:rPr>
              <a:t>NDCG</a:t>
            </a:r>
            <a:endParaRPr lang="en-US" sz="463" dirty="0"/>
          </a:p>
        </p:txBody>
      </p:sp>
      <p:sp>
        <p:nvSpPr>
          <p:cNvPr id="62" name="Text 53"/>
          <p:cNvSpPr/>
          <p:nvPr/>
        </p:nvSpPr>
        <p:spPr>
          <a:xfrm>
            <a:off x="3840491" y="1691283"/>
            <a:ext cx="660127" cy="137517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</a:rPr>
              <a:t>0.823</a:t>
            </a:r>
            <a:endParaRPr lang="en-US" sz="463" dirty="0"/>
          </a:p>
        </p:txBody>
      </p:sp>
      <p:sp>
        <p:nvSpPr>
          <p:cNvPr id="63" name="Text 54"/>
          <p:cNvSpPr/>
          <p:nvPr/>
        </p:nvSpPr>
        <p:spPr>
          <a:xfrm>
            <a:off x="4500618" y="1691283"/>
            <a:ext cx="542255" cy="137517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</a:rPr>
              <a:t>0.715</a:t>
            </a:r>
            <a:endParaRPr lang="en-US" sz="463" dirty="0"/>
          </a:p>
        </p:txBody>
      </p:sp>
      <p:sp>
        <p:nvSpPr>
          <p:cNvPr id="64" name="Text 55"/>
          <p:cNvSpPr/>
          <p:nvPr/>
        </p:nvSpPr>
        <p:spPr>
          <a:xfrm>
            <a:off x="5042874" y="1691283"/>
            <a:ext cx="512425" cy="137517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</a:rPr>
              <a:t>0.547</a:t>
            </a:r>
            <a:endParaRPr lang="en-US" sz="463" dirty="0"/>
          </a:p>
        </p:txBody>
      </p:sp>
      <p:sp>
        <p:nvSpPr>
          <p:cNvPr id="65" name="Text 56"/>
          <p:cNvSpPr/>
          <p:nvPr/>
        </p:nvSpPr>
        <p:spPr>
          <a:xfrm>
            <a:off x="5555298" y="1691283"/>
            <a:ext cx="490100" cy="137517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</a:rPr>
              <a:t>&gt;0.75 ✅</a:t>
            </a:r>
            <a:endParaRPr lang="en-US" sz="463" dirty="0"/>
          </a:p>
        </p:txBody>
      </p:sp>
      <p:sp>
        <p:nvSpPr>
          <p:cNvPr id="66" name="Text 57"/>
          <p:cNvSpPr/>
          <p:nvPr/>
        </p:nvSpPr>
        <p:spPr>
          <a:xfrm>
            <a:off x="3098602" y="1828800"/>
            <a:ext cx="741890" cy="133945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</a:rPr>
              <a:t>F1 Score</a:t>
            </a:r>
            <a:endParaRPr lang="en-US" sz="463" dirty="0"/>
          </a:p>
        </p:txBody>
      </p:sp>
      <p:sp>
        <p:nvSpPr>
          <p:cNvPr id="67" name="Text 58"/>
          <p:cNvSpPr/>
          <p:nvPr/>
        </p:nvSpPr>
        <p:spPr>
          <a:xfrm>
            <a:off x="3840491" y="1828800"/>
            <a:ext cx="660127" cy="133945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</a:rPr>
              <a:t>0.803</a:t>
            </a:r>
            <a:endParaRPr lang="en-US" sz="463" dirty="0"/>
          </a:p>
        </p:txBody>
      </p:sp>
      <p:sp>
        <p:nvSpPr>
          <p:cNvPr id="68" name="Text 59"/>
          <p:cNvSpPr/>
          <p:nvPr/>
        </p:nvSpPr>
        <p:spPr>
          <a:xfrm>
            <a:off x="4500618" y="1828800"/>
            <a:ext cx="542255" cy="133945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</a:rPr>
              <a:t>0.702</a:t>
            </a:r>
            <a:endParaRPr lang="en-US" sz="463" dirty="0"/>
          </a:p>
        </p:txBody>
      </p:sp>
      <p:sp>
        <p:nvSpPr>
          <p:cNvPr id="69" name="Text 60"/>
          <p:cNvSpPr/>
          <p:nvPr/>
        </p:nvSpPr>
        <p:spPr>
          <a:xfrm>
            <a:off x="5042874" y="1828800"/>
            <a:ext cx="512425" cy="133945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</a:rPr>
              <a:t>0.496</a:t>
            </a:r>
            <a:endParaRPr lang="en-US" sz="463" dirty="0"/>
          </a:p>
        </p:txBody>
      </p:sp>
      <p:sp>
        <p:nvSpPr>
          <p:cNvPr id="70" name="Text 61"/>
          <p:cNvSpPr/>
          <p:nvPr/>
        </p:nvSpPr>
        <p:spPr>
          <a:xfrm>
            <a:off x="5555298" y="1828800"/>
            <a:ext cx="490100" cy="133945"/>
          </a:xfrm>
          <a:prstGeom prst="rect">
            <a:avLst/>
          </a:prstGeom>
          <a:noFill/>
          <a:ln/>
        </p:spPr>
        <p:txBody>
          <a:bodyPr wrap="square" lIns="25527" tIns="25527" rIns="25527" bIns="25527" rtlCol="0" anchor="ctr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333333"/>
                </a:solidFill>
              </a:rPr>
              <a:t>&gt;0.75 ✅</a:t>
            </a:r>
            <a:endParaRPr lang="en-US" sz="463" dirty="0"/>
          </a:p>
        </p:txBody>
      </p:sp>
      <p:pic>
        <p:nvPicPr>
          <p:cNvPr id="7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3167" y="2034183"/>
            <a:ext cx="53578" cy="71438"/>
          </a:xfrm>
          <a:prstGeom prst="rect">
            <a:avLst/>
          </a:prstGeom>
        </p:spPr>
      </p:pic>
      <p:sp>
        <p:nvSpPr>
          <p:cNvPr id="72" name="Text 62"/>
          <p:cNvSpPr/>
          <p:nvPr/>
        </p:nvSpPr>
        <p:spPr>
          <a:xfrm>
            <a:off x="3786746" y="2019895"/>
            <a:ext cx="162405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28A745"/>
                </a:solidFill>
              </a:rPr>
              <a:t>30.7pp Improvement over Keyword Matching</a:t>
            </a:r>
            <a:endParaRPr lang="en-US" sz="485" dirty="0"/>
          </a:p>
        </p:txBody>
      </p:sp>
      <p:sp>
        <p:nvSpPr>
          <p:cNvPr id="73" name="Shape 63"/>
          <p:cNvSpPr/>
          <p:nvPr/>
        </p:nvSpPr>
        <p:spPr>
          <a:xfrm>
            <a:off x="2991445" y="2319933"/>
            <a:ext cx="3161109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64"/>
          <p:cNvSpPr/>
          <p:nvPr/>
        </p:nvSpPr>
        <p:spPr>
          <a:xfrm>
            <a:off x="2991445" y="2319933"/>
            <a:ext cx="28575" cy="1143000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7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8602" y="2444948"/>
            <a:ext cx="100013" cy="100013"/>
          </a:xfrm>
          <a:prstGeom prst="rect">
            <a:avLst/>
          </a:prstGeom>
        </p:spPr>
      </p:pic>
      <p:sp>
        <p:nvSpPr>
          <p:cNvPr id="76" name="Text 65"/>
          <p:cNvSpPr/>
          <p:nvPr/>
        </p:nvSpPr>
        <p:spPr>
          <a:xfrm>
            <a:off x="3198614" y="2427089"/>
            <a:ext cx="13342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Task Completion (100%)</a:t>
            </a:r>
            <a:endParaRPr lang="en-US" sz="683" dirty="0"/>
          </a:p>
        </p:txBody>
      </p:sp>
      <p:sp>
        <p:nvSpPr>
          <p:cNvPr id="77" name="Text 66"/>
          <p:cNvSpPr/>
          <p:nvPr/>
        </p:nvSpPr>
        <p:spPr>
          <a:xfrm>
            <a:off x="3205758" y="2677120"/>
            <a:ext cx="64294" cy="89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35" b="1" dirty="0">
                <a:solidFill>
                  <a:srgbClr val="28A745"/>
                </a:solidFill>
              </a:rPr>
              <a:t></a:t>
            </a:r>
            <a:endParaRPr lang="en-US" sz="435" dirty="0"/>
          </a:p>
        </p:txBody>
      </p:sp>
      <p:sp>
        <p:nvSpPr>
          <p:cNvPr id="78" name="Text 67"/>
          <p:cNvSpPr/>
          <p:nvPr/>
        </p:nvSpPr>
        <p:spPr>
          <a:xfrm>
            <a:off x="3312914" y="2677120"/>
            <a:ext cx="40077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444444"/>
                </a:solidFill>
              </a:rPr>
              <a:t>CV Parsing:</a:t>
            </a:r>
            <a:endParaRPr lang="en-US" sz="485" dirty="0"/>
          </a:p>
        </p:txBody>
      </p:sp>
      <p:sp>
        <p:nvSpPr>
          <p:cNvPr id="79" name="Text 68"/>
          <p:cNvSpPr/>
          <p:nvPr/>
        </p:nvSpPr>
        <p:spPr>
          <a:xfrm>
            <a:off x="3713690" y="2677120"/>
            <a:ext cx="100478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94.2% accuracy (Target &gt;90%)</a:t>
            </a:r>
            <a:endParaRPr lang="en-US" sz="516" dirty="0"/>
          </a:p>
        </p:txBody>
      </p:sp>
      <p:sp>
        <p:nvSpPr>
          <p:cNvPr id="80" name="Text 69"/>
          <p:cNvSpPr/>
          <p:nvPr/>
        </p:nvSpPr>
        <p:spPr>
          <a:xfrm>
            <a:off x="3205758" y="2812852"/>
            <a:ext cx="64294" cy="89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35" b="1" dirty="0">
                <a:solidFill>
                  <a:srgbClr val="28A745"/>
                </a:solidFill>
              </a:rPr>
              <a:t></a:t>
            </a:r>
            <a:endParaRPr lang="en-US" sz="435" dirty="0"/>
          </a:p>
        </p:txBody>
      </p:sp>
      <p:sp>
        <p:nvSpPr>
          <p:cNvPr id="81" name="Text 70"/>
          <p:cNvSpPr/>
          <p:nvPr/>
        </p:nvSpPr>
        <p:spPr>
          <a:xfrm>
            <a:off x="3312914" y="2812852"/>
            <a:ext cx="49113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444444"/>
                </a:solidFill>
              </a:rPr>
              <a:t>Job Matching:</a:t>
            </a:r>
            <a:endParaRPr lang="en-US" sz="485" dirty="0"/>
          </a:p>
        </p:txBody>
      </p:sp>
      <p:sp>
        <p:nvSpPr>
          <p:cNvPr id="82" name="Text 71"/>
          <p:cNvSpPr/>
          <p:nvPr/>
        </p:nvSpPr>
        <p:spPr>
          <a:xfrm>
            <a:off x="3804047" y="2812852"/>
            <a:ext cx="101815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84.2% precision (Target &gt;80%)</a:t>
            </a:r>
            <a:endParaRPr lang="en-US" sz="516" dirty="0"/>
          </a:p>
        </p:txBody>
      </p:sp>
      <p:sp>
        <p:nvSpPr>
          <p:cNvPr id="83" name="Text 72"/>
          <p:cNvSpPr/>
          <p:nvPr/>
        </p:nvSpPr>
        <p:spPr>
          <a:xfrm>
            <a:off x="3205758" y="2948583"/>
            <a:ext cx="64294" cy="89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35" b="1" dirty="0">
                <a:solidFill>
                  <a:srgbClr val="28A745"/>
                </a:solidFill>
              </a:rPr>
              <a:t></a:t>
            </a:r>
            <a:endParaRPr lang="en-US" sz="435" dirty="0"/>
          </a:p>
        </p:txBody>
      </p:sp>
      <p:sp>
        <p:nvSpPr>
          <p:cNvPr id="84" name="Text 73"/>
          <p:cNvSpPr/>
          <p:nvPr/>
        </p:nvSpPr>
        <p:spPr>
          <a:xfrm>
            <a:off x="3312914" y="2948583"/>
            <a:ext cx="41698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444444"/>
                </a:solidFill>
              </a:rPr>
              <a:t>Auto-Apply:</a:t>
            </a:r>
            <a:endParaRPr lang="en-US" sz="485" dirty="0"/>
          </a:p>
        </p:txBody>
      </p:sp>
      <p:sp>
        <p:nvSpPr>
          <p:cNvPr id="85" name="Text 74"/>
          <p:cNvSpPr/>
          <p:nvPr/>
        </p:nvSpPr>
        <p:spPr>
          <a:xfrm>
            <a:off x="3729903" y="2948583"/>
            <a:ext cx="109349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0.8% duplicate rate (Target &lt;2%)</a:t>
            </a:r>
            <a:endParaRPr lang="en-US" sz="516" dirty="0"/>
          </a:p>
        </p:txBody>
      </p:sp>
      <p:sp>
        <p:nvSpPr>
          <p:cNvPr id="86" name="Text 75"/>
          <p:cNvSpPr/>
          <p:nvPr/>
        </p:nvSpPr>
        <p:spPr>
          <a:xfrm>
            <a:off x="3205758" y="3084314"/>
            <a:ext cx="64294" cy="89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35" b="1" dirty="0">
                <a:solidFill>
                  <a:srgbClr val="28A745"/>
                </a:solidFill>
              </a:rPr>
              <a:t></a:t>
            </a:r>
            <a:endParaRPr lang="en-US" sz="435" dirty="0"/>
          </a:p>
        </p:txBody>
      </p:sp>
      <p:sp>
        <p:nvSpPr>
          <p:cNvPr id="87" name="Text 76"/>
          <p:cNvSpPr/>
          <p:nvPr/>
        </p:nvSpPr>
        <p:spPr>
          <a:xfrm>
            <a:off x="3312914" y="3084314"/>
            <a:ext cx="611237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444444"/>
                </a:solidFill>
              </a:rPr>
              <a:t>Recruiter Search:</a:t>
            </a:r>
            <a:endParaRPr lang="en-US" sz="485" dirty="0"/>
          </a:p>
        </p:txBody>
      </p:sp>
      <p:sp>
        <p:nvSpPr>
          <p:cNvPr id="88" name="Text 77"/>
          <p:cNvSpPr/>
          <p:nvPr/>
        </p:nvSpPr>
        <p:spPr>
          <a:xfrm>
            <a:off x="3924151" y="3084314"/>
            <a:ext cx="84890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MRR 0.891 (Target &gt;0.80)</a:t>
            </a:r>
            <a:endParaRPr lang="en-US" sz="516" dirty="0"/>
          </a:p>
        </p:txBody>
      </p:sp>
      <p:sp>
        <p:nvSpPr>
          <p:cNvPr id="89" name="Text 78"/>
          <p:cNvSpPr/>
          <p:nvPr/>
        </p:nvSpPr>
        <p:spPr>
          <a:xfrm>
            <a:off x="3205758" y="3220045"/>
            <a:ext cx="64294" cy="89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35" b="1" dirty="0">
                <a:solidFill>
                  <a:srgbClr val="28A745"/>
                </a:solidFill>
              </a:rPr>
              <a:t></a:t>
            </a:r>
            <a:endParaRPr lang="en-US" sz="435" dirty="0"/>
          </a:p>
        </p:txBody>
      </p:sp>
      <p:sp>
        <p:nvSpPr>
          <p:cNvPr id="90" name="Text 79"/>
          <p:cNvSpPr/>
          <p:nvPr/>
        </p:nvSpPr>
        <p:spPr>
          <a:xfrm>
            <a:off x="3312914" y="3220045"/>
            <a:ext cx="55986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444444"/>
                </a:solidFill>
              </a:rPr>
              <a:t>Conversational:</a:t>
            </a:r>
            <a:endParaRPr lang="en-US" sz="485" dirty="0"/>
          </a:p>
        </p:txBody>
      </p:sp>
      <p:sp>
        <p:nvSpPr>
          <p:cNvPr id="91" name="Text 80"/>
          <p:cNvSpPr/>
          <p:nvPr/>
        </p:nvSpPr>
        <p:spPr>
          <a:xfrm>
            <a:off x="3872778" y="3220045"/>
            <a:ext cx="96970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6.2 min avg (Target &lt;10 min)</a:t>
            </a:r>
            <a:endParaRPr lang="en-US" sz="516" dirty="0"/>
          </a:p>
        </p:txBody>
      </p:sp>
      <p:sp>
        <p:nvSpPr>
          <p:cNvPr id="92" name="Shape 81"/>
          <p:cNvSpPr/>
          <p:nvPr/>
        </p:nvSpPr>
        <p:spPr>
          <a:xfrm>
            <a:off x="2991445" y="3520083"/>
            <a:ext cx="3161109" cy="12144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Shape 82"/>
          <p:cNvSpPr/>
          <p:nvPr/>
        </p:nvSpPr>
        <p:spPr>
          <a:xfrm>
            <a:off x="2991445" y="3520083"/>
            <a:ext cx="28575" cy="1214438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9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98602" y="3645098"/>
            <a:ext cx="87511" cy="100013"/>
          </a:xfrm>
          <a:prstGeom prst="rect">
            <a:avLst/>
          </a:prstGeom>
        </p:spPr>
      </p:pic>
      <p:sp>
        <p:nvSpPr>
          <p:cNvPr id="95" name="Text 83"/>
          <p:cNvSpPr/>
          <p:nvPr/>
        </p:nvSpPr>
        <p:spPr>
          <a:xfrm>
            <a:off x="3186113" y="3627239"/>
            <a:ext cx="112444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Pilot Study Results</a:t>
            </a:r>
            <a:endParaRPr lang="en-US" sz="683" dirty="0"/>
          </a:p>
        </p:txBody>
      </p:sp>
      <p:sp>
        <p:nvSpPr>
          <p:cNvPr id="96" name="Shape 84"/>
          <p:cNvSpPr/>
          <p:nvPr/>
        </p:nvSpPr>
        <p:spPr>
          <a:xfrm>
            <a:off x="3098602" y="3877270"/>
            <a:ext cx="1444823" cy="34647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97" name="Text 85"/>
          <p:cNvSpPr/>
          <p:nvPr/>
        </p:nvSpPr>
        <p:spPr>
          <a:xfrm>
            <a:off x="3155752" y="3934420"/>
            <a:ext cx="13305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78%</a:t>
            </a:r>
            <a:endParaRPr lang="en-US" sz="784" dirty="0"/>
          </a:p>
        </p:txBody>
      </p:sp>
      <p:sp>
        <p:nvSpPr>
          <p:cNvPr id="98" name="Text 86"/>
          <p:cNvSpPr/>
          <p:nvPr/>
        </p:nvSpPr>
        <p:spPr>
          <a:xfrm>
            <a:off x="3155752" y="4089797"/>
            <a:ext cx="1330523" cy="76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666666"/>
                </a:solidFill>
              </a:rPr>
              <a:t>Response Rate (vs 12%)</a:t>
            </a:r>
            <a:endParaRPr lang="en-US" sz="411" dirty="0"/>
          </a:p>
        </p:txBody>
      </p:sp>
      <p:sp>
        <p:nvSpPr>
          <p:cNvPr id="99" name="Shape 87"/>
          <p:cNvSpPr/>
          <p:nvPr/>
        </p:nvSpPr>
        <p:spPr>
          <a:xfrm>
            <a:off x="4600575" y="3877270"/>
            <a:ext cx="1444823" cy="34647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00" name="Text 88"/>
          <p:cNvSpPr/>
          <p:nvPr/>
        </p:nvSpPr>
        <p:spPr>
          <a:xfrm>
            <a:off x="4657725" y="3934420"/>
            <a:ext cx="13305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6.2m</a:t>
            </a:r>
            <a:endParaRPr lang="en-US" sz="784" dirty="0"/>
          </a:p>
        </p:txBody>
      </p:sp>
      <p:sp>
        <p:nvSpPr>
          <p:cNvPr id="101" name="Text 89"/>
          <p:cNvSpPr/>
          <p:nvPr/>
        </p:nvSpPr>
        <p:spPr>
          <a:xfrm>
            <a:off x="4657725" y="4089797"/>
            <a:ext cx="1330523" cy="76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666666"/>
                </a:solidFill>
              </a:rPr>
              <a:t>Profile Completion</a:t>
            </a:r>
            <a:endParaRPr lang="en-US" sz="411" dirty="0"/>
          </a:p>
        </p:txBody>
      </p:sp>
      <p:sp>
        <p:nvSpPr>
          <p:cNvPr id="102" name="Shape 90"/>
          <p:cNvSpPr/>
          <p:nvPr/>
        </p:nvSpPr>
        <p:spPr>
          <a:xfrm>
            <a:off x="3098602" y="4280892"/>
            <a:ext cx="1444823" cy="34647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03" name="Text 91"/>
          <p:cNvSpPr/>
          <p:nvPr/>
        </p:nvSpPr>
        <p:spPr>
          <a:xfrm>
            <a:off x="3155752" y="4338042"/>
            <a:ext cx="13305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92%</a:t>
            </a:r>
            <a:endParaRPr lang="en-US" sz="784" dirty="0"/>
          </a:p>
        </p:txBody>
      </p:sp>
      <p:sp>
        <p:nvSpPr>
          <p:cNvPr id="104" name="Text 92"/>
          <p:cNvSpPr/>
          <p:nvPr/>
        </p:nvSpPr>
        <p:spPr>
          <a:xfrm>
            <a:off x="3155752" y="4493419"/>
            <a:ext cx="1330523" cy="76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666666"/>
                </a:solidFill>
              </a:rPr>
              <a:t>User Satisfaction</a:t>
            </a:r>
            <a:endParaRPr lang="en-US" sz="411" dirty="0"/>
          </a:p>
        </p:txBody>
      </p:sp>
      <p:sp>
        <p:nvSpPr>
          <p:cNvPr id="105" name="Shape 93"/>
          <p:cNvSpPr/>
          <p:nvPr/>
        </p:nvSpPr>
        <p:spPr>
          <a:xfrm>
            <a:off x="4600575" y="4280892"/>
            <a:ext cx="1444823" cy="34647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06" name="Text 94"/>
          <p:cNvSpPr/>
          <p:nvPr/>
        </p:nvSpPr>
        <p:spPr>
          <a:xfrm>
            <a:off x="4657725" y="4338042"/>
            <a:ext cx="13305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0</a:t>
            </a:r>
            <a:endParaRPr lang="en-US" sz="784" dirty="0"/>
          </a:p>
        </p:txBody>
      </p:sp>
      <p:sp>
        <p:nvSpPr>
          <p:cNvPr id="107" name="Text 95"/>
          <p:cNvSpPr/>
          <p:nvPr/>
        </p:nvSpPr>
        <p:spPr>
          <a:xfrm>
            <a:off x="4657725" y="4493419"/>
            <a:ext cx="1330523" cy="76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666666"/>
                </a:solidFill>
              </a:rPr>
              <a:t>PII Leaks</a:t>
            </a:r>
            <a:endParaRPr lang="en-US" sz="411" dirty="0"/>
          </a:p>
        </p:txBody>
      </p:sp>
      <p:sp>
        <p:nvSpPr>
          <p:cNvPr id="108" name="Shape 96"/>
          <p:cNvSpPr/>
          <p:nvPr/>
        </p:nvSpPr>
        <p:spPr>
          <a:xfrm>
            <a:off x="6295430" y="917972"/>
            <a:ext cx="2634258" cy="8965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Shape 97"/>
          <p:cNvSpPr/>
          <p:nvPr/>
        </p:nvSpPr>
        <p:spPr>
          <a:xfrm>
            <a:off x="6295430" y="917972"/>
            <a:ext cx="28575" cy="896541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11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2586" y="1042988"/>
            <a:ext cx="100013" cy="100013"/>
          </a:xfrm>
          <a:prstGeom prst="rect">
            <a:avLst/>
          </a:prstGeom>
        </p:spPr>
      </p:pic>
      <p:sp>
        <p:nvSpPr>
          <p:cNvPr id="111" name="Text 98"/>
          <p:cNvSpPr/>
          <p:nvPr/>
        </p:nvSpPr>
        <p:spPr>
          <a:xfrm>
            <a:off x="6502598" y="1025128"/>
            <a:ext cx="6152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Tech Stack</a:t>
            </a:r>
            <a:endParaRPr lang="en-US" sz="683" dirty="0"/>
          </a:p>
        </p:txBody>
      </p:sp>
      <p:sp>
        <p:nvSpPr>
          <p:cNvPr id="112" name="Shape 99"/>
          <p:cNvSpPr/>
          <p:nvPr/>
        </p:nvSpPr>
        <p:spPr>
          <a:xfrm>
            <a:off x="6402586" y="1275159"/>
            <a:ext cx="469171" cy="10537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3" name="Text 100"/>
          <p:cNvSpPr/>
          <p:nvPr/>
        </p:nvSpPr>
        <p:spPr>
          <a:xfrm>
            <a:off x="6402586" y="1275159"/>
            <a:ext cx="469171" cy="105370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333333"/>
                </a:solidFill>
              </a:rPr>
              <a:t>OpenAI GPT-4</a:t>
            </a:r>
            <a:endParaRPr lang="en-US" sz="386" dirty="0"/>
          </a:p>
        </p:txBody>
      </p:sp>
      <p:sp>
        <p:nvSpPr>
          <p:cNvPr id="114" name="Shape 101"/>
          <p:cNvSpPr/>
          <p:nvPr/>
        </p:nvSpPr>
        <p:spPr>
          <a:xfrm>
            <a:off x="6900332" y="1275159"/>
            <a:ext cx="539855" cy="10537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5" name="Text 102"/>
          <p:cNvSpPr/>
          <p:nvPr/>
        </p:nvSpPr>
        <p:spPr>
          <a:xfrm>
            <a:off x="6900332" y="1275159"/>
            <a:ext cx="539855" cy="105370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333333"/>
                </a:solidFill>
              </a:rPr>
              <a:t>Embeddings API</a:t>
            </a:r>
            <a:endParaRPr lang="en-US" sz="386" dirty="0"/>
          </a:p>
        </p:txBody>
      </p:sp>
      <p:sp>
        <p:nvSpPr>
          <p:cNvPr id="116" name="Shape 103"/>
          <p:cNvSpPr/>
          <p:nvPr/>
        </p:nvSpPr>
        <p:spPr>
          <a:xfrm>
            <a:off x="7468763" y="1275159"/>
            <a:ext cx="333719" cy="10537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7" name="Text 104"/>
          <p:cNvSpPr/>
          <p:nvPr/>
        </p:nvSpPr>
        <p:spPr>
          <a:xfrm>
            <a:off x="7468763" y="1275159"/>
            <a:ext cx="333719" cy="105370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333333"/>
                </a:solidFill>
              </a:rPr>
              <a:t>pgvector</a:t>
            </a:r>
            <a:endParaRPr lang="en-US" sz="386" dirty="0"/>
          </a:p>
        </p:txBody>
      </p:sp>
      <p:sp>
        <p:nvSpPr>
          <p:cNvPr id="118" name="Shape 105"/>
          <p:cNvSpPr/>
          <p:nvPr/>
        </p:nvSpPr>
        <p:spPr>
          <a:xfrm>
            <a:off x="7831057" y="1275159"/>
            <a:ext cx="525624" cy="10537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9" name="Text 106"/>
          <p:cNvSpPr/>
          <p:nvPr/>
        </p:nvSpPr>
        <p:spPr>
          <a:xfrm>
            <a:off x="7831057" y="1275159"/>
            <a:ext cx="525624" cy="105370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333333"/>
                </a:solidFill>
              </a:rPr>
              <a:t>PhantomBuster</a:t>
            </a:r>
            <a:endParaRPr lang="en-US" sz="386" dirty="0"/>
          </a:p>
        </p:txBody>
      </p:sp>
      <p:sp>
        <p:nvSpPr>
          <p:cNvPr id="120" name="Shape 107"/>
          <p:cNvSpPr/>
          <p:nvPr/>
        </p:nvSpPr>
        <p:spPr>
          <a:xfrm>
            <a:off x="8385256" y="1275159"/>
            <a:ext cx="353839" cy="10537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21" name="Text 108"/>
          <p:cNvSpPr/>
          <p:nvPr/>
        </p:nvSpPr>
        <p:spPr>
          <a:xfrm>
            <a:off x="8385256" y="1275159"/>
            <a:ext cx="353839" cy="105370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333333"/>
                </a:solidFill>
              </a:rPr>
              <a:t>Supabase</a:t>
            </a:r>
            <a:endParaRPr lang="en-US" sz="386" dirty="0"/>
          </a:p>
        </p:txBody>
      </p:sp>
      <p:sp>
        <p:nvSpPr>
          <p:cNvPr id="122" name="Shape 109"/>
          <p:cNvSpPr/>
          <p:nvPr/>
        </p:nvSpPr>
        <p:spPr>
          <a:xfrm>
            <a:off x="6402586" y="1409105"/>
            <a:ext cx="241297" cy="10537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23" name="Text 110"/>
          <p:cNvSpPr/>
          <p:nvPr/>
        </p:nvSpPr>
        <p:spPr>
          <a:xfrm>
            <a:off x="6402586" y="1409105"/>
            <a:ext cx="241297" cy="105370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333333"/>
                </a:solidFill>
              </a:rPr>
              <a:t>React</a:t>
            </a:r>
            <a:endParaRPr lang="en-US" sz="386" dirty="0"/>
          </a:p>
        </p:txBody>
      </p:sp>
      <p:sp>
        <p:nvSpPr>
          <p:cNvPr id="124" name="Shape 111"/>
          <p:cNvSpPr/>
          <p:nvPr/>
        </p:nvSpPr>
        <p:spPr>
          <a:xfrm>
            <a:off x="6672458" y="1409105"/>
            <a:ext cx="377949" cy="10537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25" name="Text 112"/>
          <p:cNvSpPr/>
          <p:nvPr/>
        </p:nvSpPr>
        <p:spPr>
          <a:xfrm>
            <a:off x="6672458" y="1409105"/>
            <a:ext cx="377949" cy="105370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386" b="1" dirty="0">
                <a:solidFill>
                  <a:srgbClr val="333333"/>
                </a:solidFill>
              </a:rPr>
              <a:t>TypeScript</a:t>
            </a:r>
            <a:endParaRPr lang="en-US" sz="386" dirty="0"/>
          </a:p>
        </p:txBody>
      </p:sp>
      <p:sp>
        <p:nvSpPr>
          <p:cNvPr id="126" name="Text 113"/>
          <p:cNvSpPr/>
          <p:nvPr/>
        </p:nvSpPr>
        <p:spPr>
          <a:xfrm>
            <a:off x="6402586" y="1571625"/>
            <a:ext cx="241994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444444"/>
                </a:solidFill>
              </a:rPr>
              <a:t>Infrastructure: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 Supabase Cloud, Edge Functions, RLS.</a:t>
            </a:r>
            <a:endParaRPr lang="en-US" sz="485" dirty="0"/>
          </a:p>
        </p:txBody>
      </p:sp>
      <p:sp>
        <p:nvSpPr>
          <p:cNvPr id="127" name="Shape 114"/>
          <p:cNvSpPr/>
          <p:nvPr/>
        </p:nvSpPr>
        <p:spPr>
          <a:xfrm>
            <a:off x="6295430" y="1871663"/>
            <a:ext cx="2634258" cy="10072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8" name="Shape 115"/>
          <p:cNvSpPr/>
          <p:nvPr/>
        </p:nvSpPr>
        <p:spPr>
          <a:xfrm>
            <a:off x="6295430" y="1871663"/>
            <a:ext cx="28575" cy="1007269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1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2586" y="1996678"/>
            <a:ext cx="100013" cy="100013"/>
          </a:xfrm>
          <a:prstGeom prst="rect">
            <a:avLst/>
          </a:prstGeom>
        </p:spPr>
      </p:pic>
      <p:sp>
        <p:nvSpPr>
          <p:cNvPr id="130" name="Text 116"/>
          <p:cNvSpPr/>
          <p:nvPr/>
        </p:nvSpPr>
        <p:spPr>
          <a:xfrm>
            <a:off x="6502598" y="1978819"/>
            <a:ext cx="8674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Safety &amp; Ethics</a:t>
            </a:r>
            <a:endParaRPr lang="en-US" sz="683" dirty="0"/>
          </a:p>
        </p:txBody>
      </p:sp>
      <p:sp>
        <p:nvSpPr>
          <p:cNvPr id="131" name="Text 117"/>
          <p:cNvSpPr/>
          <p:nvPr/>
        </p:nvSpPr>
        <p:spPr>
          <a:xfrm>
            <a:off x="6509742" y="2228850"/>
            <a:ext cx="64294" cy="89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35" b="1" dirty="0">
                <a:solidFill>
                  <a:srgbClr val="28A745"/>
                </a:solidFill>
              </a:rPr>
              <a:t></a:t>
            </a:r>
            <a:endParaRPr lang="en-US" sz="435" dirty="0"/>
          </a:p>
        </p:txBody>
      </p:sp>
      <p:sp>
        <p:nvSpPr>
          <p:cNvPr id="132" name="Text 118"/>
          <p:cNvSpPr/>
          <p:nvPr/>
        </p:nvSpPr>
        <p:spPr>
          <a:xfrm>
            <a:off x="6616898" y="2228850"/>
            <a:ext cx="71409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444444"/>
                </a:solidFill>
              </a:rPr>
              <a:t>Human-in-the-Loop:</a:t>
            </a:r>
            <a:endParaRPr lang="en-US" sz="485" dirty="0"/>
          </a:p>
        </p:txBody>
      </p:sp>
      <p:sp>
        <p:nvSpPr>
          <p:cNvPr id="133" name="Text 119"/>
          <p:cNvSpPr/>
          <p:nvPr/>
        </p:nvSpPr>
        <p:spPr>
          <a:xfrm>
            <a:off x="7330994" y="2228850"/>
            <a:ext cx="132795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Explicit opt-in, configurable thresholds.</a:t>
            </a:r>
            <a:endParaRPr lang="en-US" sz="516" dirty="0"/>
          </a:p>
        </p:txBody>
      </p:sp>
      <p:sp>
        <p:nvSpPr>
          <p:cNvPr id="134" name="Text 120"/>
          <p:cNvSpPr/>
          <p:nvPr/>
        </p:nvSpPr>
        <p:spPr>
          <a:xfrm>
            <a:off x="6509742" y="2364581"/>
            <a:ext cx="64294" cy="89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35" b="1" dirty="0">
                <a:solidFill>
                  <a:srgbClr val="28A745"/>
                </a:solidFill>
              </a:rPr>
              <a:t></a:t>
            </a:r>
            <a:endParaRPr lang="en-US" sz="435" dirty="0"/>
          </a:p>
        </p:txBody>
      </p:sp>
      <p:sp>
        <p:nvSpPr>
          <p:cNvPr id="135" name="Text 121"/>
          <p:cNvSpPr/>
          <p:nvPr/>
        </p:nvSpPr>
        <p:spPr>
          <a:xfrm>
            <a:off x="6616898" y="2364581"/>
            <a:ext cx="51337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444444"/>
                </a:solidFill>
              </a:rPr>
              <a:t>PII Protection:</a:t>
            </a:r>
            <a:endParaRPr lang="en-US" sz="485" dirty="0"/>
          </a:p>
        </p:txBody>
      </p:sp>
      <p:sp>
        <p:nvSpPr>
          <p:cNvPr id="136" name="Text 122"/>
          <p:cNvSpPr/>
          <p:nvPr/>
        </p:nvSpPr>
        <p:spPr>
          <a:xfrm>
            <a:off x="7130272" y="2364581"/>
            <a:ext cx="113973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100% redaction, GDPR compliant.</a:t>
            </a:r>
            <a:endParaRPr lang="en-US" sz="516" dirty="0"/>
          </a:p>
        </p:txBody>
      </p:sp>
      <p:sp>
        <p:nvSpPr>
          <p:cNvPr id="137" name="Text 123"/>
          <p:cNvSpPr/>
          <p:nvPr/>
        </p:nvSpPr>
        <p:spPr>
          <a:xfrm>
            <a:off x="6509742" y="2500313"/>
            <a:ext cx="64294" cy="89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35" b="1" dirty="0">
                <a:solidFill>
                  <a:srgbClr val="28A745"/>
                </a:solidFill>
              </a:rPr>
              <a:t></a:t>
            </a:r>
            <a:endParaRPr lang="en-US" sz="435" dirty="0"/>
          </a:p>
        </p:txBody>
      </p:sp>
      <p:sp>
        <p:nvSpPr>
          <p:cNvPr id="138" name="Text 124"/>
          <p:cNvSpPr/>
          <p:nvPr/>
        </p:nvSpPr>
        <p:spPr>
          <a:xfrm>
            <a:off x="6616898" y="2500313"/>
            <a:ext cx="647960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444444"/>
                </a:solidFill>
              </a:rPr>
              <a:t>Injection Defense:</a:t>
            </a:r>
            <a:endParaRPr lang="en-US" sz="485" dirty="0"/>
          </a:p>
        </p:txBody>
      </p:sp>
      <p:sp>
        <p:nvSpPr>
          <p:cNvPr id="139" name="Text 125"/>
          <p:cNvSpPr/>
          <p:nvPr/>
        </p:nvSpPr>
        <p:spPr>
          <a:xfrm>
            <a:off x="7264859" y="2500313"/>
            <a:ext cx="117165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99% detection rate (100 attempts).</a:t>
            </a:r>
            <a:endParaRPr lang="en-US" sz="516" dirty="0"/>
          </a:p>
        </p:txBody>
      </p:sp>
      <p:sp>
        <p:nvSpPr>
          <p:cNvPr id="140" name="Text 126"/>
          <p:cNvSpPr/>
          <p:nvPr/>
        </p:nvSpPr>
        <p:spPr>
          <a:xfrm>
            <a:off x="6509742" y="2636044"/>
            <a:ext cx="64294" cy="89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35" b="1" dirty="0">
                <a:solidFill>
                  <a:srgbClr val="28A745"/>
                </a:solidFill>
              </a:rPr>
              <a:t></a:t>
            </a:r>
            <a:endParaRPr lang="en-US" sz="435" dirty="0"/>
          </a:p>
        </p:txBody>
      </p:sp>
      <p:sp>
        <p:nvSpPr>
          <p:cNvPr id="141" name="Text 127"/>
          <p:cNvSpPr/>
          <p:nvPr/>
        </p:nvSpPr>
        <p:spPr>
          <a:xfrm>
            <a:off x="6616898" y="2636044"/>
            <a:ext cx="56164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444444"/>
                </a:solidFill>
              </a:rPr>
              <a:t>Bias Mitigation:</a:t>
            </a:r>
            <a:endParaRPr lang="en-US" sz="485" dirty="0"/>
          </a:p>
        </p:txBody>
      </p:sp>
      <p:sp>
        <p:nvSpPr>
          <p:cNvPr id="142" name="Text 128"/>
          <p:cNvSpPr/>
          <p:nvPr/>
        </p:nvSpPr>
        <p:spPr>
          <a:xfrm>
            <a:off x="7178548" y="2636044"/>
            <a:ext cx="112014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Demographic parity &gt;0.80 (Pass).</a:t>
            </a:r>
            <a:endParaRPr lang="en-US" sz="516" dirty="0"/>
          </a:p>
        </p:txBody>
      </p:sp>
      <p:sp>
        <p:nvSpPr>
          <p:cNvPr id="143" name="Shape 129"/>
          <p:cNvSpPr/>
          <p:nvPr/>
        </p:nvSpPr>
        <p:spPr>
          <a:xfrm>
            <a:off x="6295430" y="2936081"/>
            <a:ext cx="2634258" cy="10072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" name="Shape 130"/>
          <p:cNvSpPr/>
          <p:nvPr/>
        </p:nvSpPr>
        <p:spPr>
          <a:xfrm>
            <a:off x="6295430" y="2936081"/>
            <a:ext cx="28575" cy="1007269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1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2586" y="3061097"/>
            <a:ext cx="100013" cy="100013"/>
          </a:xfrm>
          <a:prstGeom prst="rect">
            <a:avLst/>
          </a:prstGeom>
        </p:spPr>
      </p:pic>
      <p:sp>
        <p:nvSpPr>
          <p:cNvPr id="146" name="Text 131"/>
          <p:cNvSpPr/>
          <p:nvPr/>
        </p:nvSpPr>
        <p:spPr>
          <a:xfrm>
            <a:off x="6502598" y="3043238"/>
            <a:ext cx="88632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Cost Efficiency</a:t>
            </a:r>
            <a:endParaRPr lang="en-US" sz="683" dirty="0"/>
          </a:p>
        </p:txBody>
      </p:sp>
      <p:sp>
        <p:nvSpPr>
          <p:cNvPr id="147" name="Text 132"/>
          <p:cNvSpPr/>
          <p:nvPr/>
        </p:nvSpPr>
        <p:spPr>
          <a:xfrm>
            <a:off x="6402586" y="3293269"/>
            <a:ext cx="241994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444444"/>
                </a:solidFill>
              </a:rPr>
              <a:t>Cost per Match: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 $0.0032</a:t>
            </a:r>
            <a:endParaRPr lang="en-US" sz="485" dirty="0"/>
          </a:p>
        </p:txBody>
      </p:sp>
      <p:sp>
        <p:nvSpPr>
          <p:cNvPr id="148" name="Text 133"/>
          <p:cNvSpPr/>
          <p:nvPr/>
        </p:nvSpPr>
        <p:spPr>
          <a:xfrm>
            <a:off x="6402586" y="3429000"/>
            <a:ext cx="241994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444444"/>
                </a:solidFill>
              </a:rPr>
              <a:t>Monthly (1K users):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 $12.76</a:t>
            </a:r>
            <a:endParaRPr lang="en-US" sz="485" dirty="0"/>
          </a:p>
        </p:txBody>
      </p:sp>
      <p:sp>
        <p:nvSpPr>
          <p:cNvPr id="149" name="Text 134"/>
          <p:cNvSpPr/>
          <p:nvPr/>
        </p:nvSpPr>
        <p:spPr>
          <a:xfrm>
            <a:off x="6402586" y="3564731"/>
            <a:ext cx="241994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444444"/>
                </a:solidFill>
              </a:rPr>
              <a:t>Enterprise (100K):</a:t>
            </a:r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444444"/>
                </a:solidFill>
              </a:rPr>
              <a:t> $25.50/mo</a:t>
            </a:r>
            <a:endParaRPr lang="en-US" sz="485" dirty="0"/>
          </a:p>
        </p:txBody>
      </p:sp>
      <p:sp>
        <p:nvSpPr>
          <p:cNvPr id="150" name="Text 135"/>
          <p:cNvSpPr/>
          <p:nvPr/>
        </p:nvSpPr>
        <p:spPr>
          <a:xfrm>
            <a:off x="6402586" y="3700463"/>
            <a:ext cx="241994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i="1" dirty="0">
                <a:solidFill>
                  <a:srgbClr val="444444"/>
                </a:solidFill>
              </a:rPr>
              <a:t>Excellent scaling due to cached embeddings.</a:t>
            </a:r>
            <a:endParaRPr lang="en-US" sz="516" dirty="0"/>
          </a:p>
        </p:txBody>
      </p:sp>
      <p:sp>
        <p:nvSpPr>
          <p:cNvPr id="151" name="Shape 136"/>
          <p:cNvSpPr/>
          <p:nvPr/>
        </p:nvSpPr>
        <p:spPr>
          <a:xfrm>
            <a:off x="214313" y="4770239"/>
            <a:ext cx="8715375" cy="37683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2" name="Shape 137"/>
          <p:cNvSpPr/>
          <p:nvPr/>
        </p:nvSpPr>
        <p:spPr>
          <a:xfrm>
            <a:off x="214313" y="4770239"/>
            <a:ext cx="8715375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38"/>
          <p:cNvSpPr/>
          <p:nvPr/>
        </p:nvSpPr>
        <p:spPr>
          <a:xfrm>
            <a:off x="428625" y="4805958"/>
            <a:ext cx="266224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4DABF7"/>
                </a:solidFill>
              </a:rPr>
              <a:t>Key Achievements</a:t>
            </a:r>
            <a:endParaRPr lang="en-US" sz="534" dirty="0"/>
          </a:p>
        </p:txBody>
      </p:sp>
      <p:sp>
        <p:nvSpPr>
          <p:cNvPr id="154" name="Text 139"/>
          <p:cNvSpPr/>
          <p:nvPr/>
        </p:nvSpPr>
        <p:spPr>
          <a:xfrm>
            <a:off x="428625" y="5002411"/>
            <a:ext cx="2442465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CCCCCC"/>
                </a:solidFill>
              </a:rPr>
              <a:t>✅ 100% Task Completion • 84.2% Precision • 97.3% Reliability • Production Ready</a:t>
            </a:r>
            <a:endParaRPr lang="en-US" sz="463" dirty="0"/>
          </a:p>
        </p:txBody>
      </p:sp>
      <p:sp>
        <p:nvSpPr>
          <p:cNvPr id="155" name="Text 140"/>
          <p:cNvSpPr/>
          <p:nvPr/>
        </p:nvSpPr>
        <p:spPr>
          <a:xfrm>
            <a:off x="3240891" y="4805958"/>
            <a:ext cx="266224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4DABF7"/>
                </a:solidFill>
              </a:rPr>
              <a:t>Future Roadmap</a:t>
            </a:r>
            <a:endParaRPr lang="en-US" sz="534" dirty="0"/>
          </a:p>
        </p:txBody>
      </p:sp>
      <p:sp>
        <p:nvSpPr>
          <p:cNvPr id="156" name="Text 141"/>
          <p:cNvSpPr/>
          <p:nvPr/>
        </p:nvSpPr>
        <p:spPr>
          <a:xfrm>
            <a:off x="3240891" y="5002411"/>
            <a:ext cx="2512563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CCCCCC"/>
                </a:solidFill>
              </a:rPr>
              <a:t>Multi-language Support • Mobile App • Interview Prep Assistant • Skills Gap Analysis</a:t>
            </a:r>
            <a:endParaRPr lang="en-US" sz="463" dirty="0"/>
          </a:p>
        </p:txBody>
      </p:sp>
      <p:sp>
        <p:nvSpPr>
          <p:cNvPr id="157" name="Text 142"/>
          <p:cNvSpPr/>
          <p:nvPr/>
        </p:nvSpPr>
        <p:spPr>
          <a:xfrm>
            <a:off x="6053156" y="4805958"/>
            <a:ext cx="266224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4DABF7"/>
                </a:solidFill>
              </a:rPr>
              <a:t>Market Impact</a:t>
            </a:r>
            <a:endParaRPr lang="en-US" sz="534" dirty="0"/>
          </a:p>
        </p:txBody>
      </p:sp>
      <p:sp>
        <p:nvSpPr>
          <p:cNvPr id="158" name="Text 143"/>
          <p:cNvSpPr/>
          <p:nvPr/>
        </p:nvSpPr>
        <p:spPr>
          <a:xfrm>
            <a:off x="6053156" y="5002411"/>
            <a:ext cx="2095016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63" dirty="0">
                <a:solidFill>
                  <a:srgbClr val="CCCCCC"/>
                </a:solidFill>
              </a:rPr>
              <a:t>Reduce time-to-hire by 40-50% • Improve candidate quality by 30-40%</a:t>
            </a:r>
            <a:endParaRPr lang="en-US" sz="46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2025-11-29T22:03:32Z</dcterms:created>
  <dcterms:modified xsi:type="dcterms:W3CDTF">2025-11-29T22:03:32Z</dcterms:modified>
</cp:coreProperties>
</file>